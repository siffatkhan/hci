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44" d="100"/>
          <a:sy n="144" d="100"/>
        </p:scale>
        <p:origin x="7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33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6583680" y="-1371600"/>
            <a:ext cx="4114800" cy="4114800"/>
          </a:xfrm>
          <a:prstGeom prst="ellipse">
            <a:avLst/>
          </a:prstGeom>
          <a:solidFill>
            <a:srgbClr val="3B4FD8">
              <a:alpha val="12000"/>
            </a:srgbClr>
          </a:solidFill>
          <a:ln w="12700">
            <a:solidFill>
              <a:srgbClr val="3B4FD8">
                <a:alpha val="12000"/>
              </a:srgbClr>
            </a:solidFill>
            <a:prstDash val="solid"/>
          </a:ln>
        </p:spPr>
      </p:sp>
      <p:sp>
        <p:nvSpPr>
          <p:cNvPr id="3" name="Shape 1"/>
          <p:cNvSpPr/>
          <p:nvPr/>
        </p:nvSpPr>
        <p:spPr>
          <a:xfrm>
            <a:off x="-457200" y="3474720"/>
            <a:ext cx="2286000" cy="2286000"/>
          </a:xfrm>
          <a:prstGeom prst="ellipse">
            <a:avLst/>
          </a:prstGeom>
          <a:solidFill>
            <a:srgbClr val="0891B2">
              <a:alpha val="8000"/>
            </a:srgbClr>
          </a:solidFill>
          <a:ln w="12700">
            <a:solidFill>
              <a:srgbClr val="0891B2">
                <a:alpha val="8000"/>
              </a:srgbClr>
            </a:solidFill>
            <a:prstDash val="solid"/>
          </a:ln>
        </p:spPr>
      </p:sp>
      <p:sp>
        <p:nvSpPr>
          <p:cNvPr id="4" name="Shape 2"/>
          <p:cNvSpPr/>
          <p:nvPr/>
        </p:nvSpPr>
        <p:spPr>
          <a:xfrm>
            <a:off x="502920" y="256032"/>
            <a:ext cx="228600" cy="36576"/>
          </a:xfrm>
          <a:prstGeom prst="rect">
            <a:avLst/>
          </a:prstGeom>
          <a:solidFill>
            <a:srgbClr val="3B4FD8"/>
          </a:solidFill>
          <a:ln w="12700">
            <a:solidFill>
              <a:srgbClr val="3B4FD8"/>
            </a:solidFill>
            <a:prstDash val="solid"/>
          </a:ln>
        </p:spPr>
      </p:sp>
      <p:sp>
        <p:nvSpPr>
          <p:cNvPr id="5" name="Text 3"/>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HCI PRESENTATION · MAY 2026</a:t>
            </a:r>
            <a:endParaRPr lang="en-US" sz="900" dirty="0"/>
          </a:p>
        </p:txBody>
      </p:sp>
      <p:sp>
        <p:nvSpPr>
          <p:cNvPr id="6" name="Text 4"/>
          <p:cNvSpPr/>
          <p:nvPr/>
        </p:nvSpPr>
        <p:spPr>
          <a:xfrm>
            <a:off x="502920" y="502920"/>
            <a:ext cx="7315200" cy="2560320"/>
          </a:xfrm>
          <a:prstGeom prst="rect">
            <a:avLst/>
          </a:prstGeom>
          <a:noFill/>
          <a:ln/>
        </p:spPr>
        <p:txBody>
          <a:bodyPr wrap="square" lIns="0" tIns="0" rIns="0" bIns="0" rtlCol="0" anchor="ctr"/>
          <a:lstStyle/>
          <a:p>
            <a:pPr marL="0" indent="0" algn="l">
              <a:lnSpc>
                <a:spcPct val="100000"/>
              </a:lnSpc>
              <a:buNone/>
            </a:pPr>
            <a:r>
              <a:rPr lang="en-US" sz="4400" b="1" dirty="0">
                <a:solidFill>
                  <a:srgbClr val="3B4FD8"/>
                </a:solidFill>
                <a:latin typeface="Arial Black" pitchFamily="34" charset="0"/>
                <a:ea typeface="Arial Black" pitchFamily="34" charset="-122"/>
                <a:cs typeface="Arial Black" pitchFamily="34" charset="-120"/>
              </a:rPr>
              <a:t>COLLABORATIVE</a:t>
            </a:r>
            <a:endParaRPr lang="en-US" sz="4400" dirty="0"/>
          </a:p>
          <a:p>
            <a:pPr marL="0" indent="0" algn="l">
              <a:lnSpc>
                <a:spcPct val="100000"/>
              </a:lnSpc>
              <a:buNone/>
            </a:pPr>
            <a:r>
              <a:rPr lang="en-US" sz="4400" b="1" dirty="0">
                <a:solidFill>
                  <a:srgbClr val="7C3AED"/>
                </a:solidFill>
                <a:latin typeface="Arial Black" pitchFamily="34" charset="0"/>
                <a:ea typeface="Arial Black" pitchFamily="34" charset="-122"/>
                <a:cs typeface="Arial Black" pitchFamily="34" charset="-120"/>
              </a:rPr>
              <a:t>&amp; SOCIAL</a:t>
            </a:r>
            <a:endParaRPr lang="en-US" sz="4400" dirty="0"/>
          </a:p>
          <a:p>
            <a:pPr marL="0" indent="0" algn="l">
              <a:lnSpc>
                <a:spcPct val="100000"/>
              </a:lnSpc>
              <a:buNone/>
            </a:pPr>
            <a:r>
              <a:rPr lang="en-US" sz="4400" b="1" dirty="0">
                <a:solidFill>
                  <a:srgbClr val="0F172A"/>
                </a:solidFill>
                <a:latin typeface="Arial Black" pitchFamily="34" charset="0"/>
                <a:ea typeface="Arial Black" pitchFamily="34" charset="-122"/>
                <a:cs typeface="Arial Black" pitchFamily="34" charset="-120"/>
              </a:rPr>
              <a:t>COMPUTING</a:t>
            </a:r>
            <a:endParaRPr lang="en-US" sz="4400" dirty="0"/>
          </a:p>
        </p:txBody>
      </p:sp>
      <p:sp>
        <p:nvSpPr>
          <p:cNvPr id="7" name="Text 5"/>
          <p:cNvSpPr/>
          <p:nvPr/>
        </p:nvSpPr>
        <p:spPr>
          <a:xfrm>
            <a:off x="502920" y="2962656"/>
            <a:ext cx="5943600" cy="640080"/>
          </a:xfrm>
          <a:prstGeom prst="rect">
            <a:avLst/>
          </a:prstGeom>
          <a:noFill/>
          <a:ln/>
        </p:spPr>
        <p:txBody>
          <a:bodyPr wrap="square" rtlCol="0" anchor="ctr"/>
          <a:lstStyle/>
          <a:p>
            <a:pPr marL="0" indent="0" algn="l">
              <a:buNone/>
            </a:pPr>
            <a:r>
              <a:rPr lang="en-US" sz="1400" b="1" dirty="0">
                <a:solidFill>
                  <a:srgbClr val="64748B"/>
                </a:solidFill>
                <a:latin typeface="Calibri" pitchFamily="34" charset="0"/>
                <a:ea typeface="Calibri" pitchFamily="34" charset="-122"/>
                <a:cs typeface="Calibri" pitchFamily="34" charset="-120"/>
              </a:rPr>
              <a:t>How technology enables people to work, create, and interact together — and why it matters more than ever.</a:t>
            </a:r>
            <a:endParaRPr lang="en-US" sz="1400" b="1" dirty="0"/>
          </a:p>
        </p:txBody>
      </p:sp>
      <p:sp>
        <p:nvSpPr>
          <p:cNvPr id="8" name="Shape 6"/>
          <p:cNvSpPr/>
          <p:nvPr/>
        </p:nvSpPr>
        <p:spPr>
          <a:xfrm>
            <a:off x="502920" y="3840480"/>
            <a:ext cx="8138160" cy="18288"/>
          </a:xfrm>
          <a:prstGeom prst="rect">
            <a:avLst/>
          </a:prstGeom>
          <a:solidFill>
            <a:srgbClr val="3B4FD8">
              <a:alpha val="30000"/>
            </a:srgbClr>
          </a:solidFill>
          <a:ln w="12700">
            <a:solidFill>
              <a:srgbClr val="3B4FD8">
                <a:alpha val="30000"/>
              </a:srgbClr>
            </a:solidFill>
            <a:prstDash val="solid"/>
          </a:ln>
        </p:spPr>
      </p:sp>
      <p:sp>
        <p:nvSpPr>
          <p:cNvPr id="9" name="Text 7"/>
          <p:cNvSpPr/>
          <p:nvPr/>
        </p:nvSpPr>
        <p:spPr>
          <a:xfrm>
            <a:off x="502920" y="3931920"/>
            <a:ext cx="2743200" cy="182880"/>
          </a:xfrm>
          <a:prstGeom prst="rect">
            <a:avLst/>
          </a:prstGeom>
          <a:noFill/>
          <a:ln/>
        </p:spPr>
        <p:txBody>
          <a:bodyPr wrap="square"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PRESENTER</a:t>
            </a:r>
            <a:endParaRPr lang="en-US" sz="800" dirty="0"/>
          </a:p>
        </p:txBody>
      </p:sp>
      <p:sp>
        <p:nvSpPr>
          <p:cNvPr id="10" name="Text 8"/>
          <p:cNvSpPr/>
          <p:nvPr/>
        </p:nvSpPr>
        <p:spPr>
          <a:xfrm>
            <a:off x="502920" y="4133088"/>
            <a:ext cx="2743200" cy="25603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Siffat Ullah</a:t>
            </a:r>
            <a:endParaRPr lang="en-US" sz="1300" dirty="0"/>
          </a:p>
        </p:txBody>
      </p:sp>
      <p:sp>
        <p:nvSpPr>
          <p:cNvPr id="11" name="Text 9"/>
          <p:cNvSpPr/>
          <p:nvPr/>
        </p:nvSpPr>
        <p:spPr>
          <a:xfrm>
            <a:off x="3337560" y="3931920"/>
            <a:ext cx="2743200" cy="182880"/>
          </a:xfrm>
          <a:prstGeom prst="rect">
            <a:avLst/>
          </a:prstGeom>
          <a:noFill/>
          <a:ln/>
        </p:spPr>
        <p:txBody>
          <a:bodyPr wrap="square"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COURSE</a:t>
            </a:r>
            <a:endParaRPr lang="en-US" sz="800" dirty="0"/>
          </a:p>
        </p:txBody>
      </p:sp>
      <p:sp>
        <p:nvSpPr>
          <p:cNvPr id="12" name="Text 10"/>
          <p:cNvSpPr/>
          <p:nvPr/>
        </p:nvSpPr>
        <p:spPr>
          <a:xfrm>
            <a:off x="3337560" y="4133088"/>
            <a:ext cx="2743200" cy="25603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Human-Computer Interaction</a:t>
            </a:r>
            <a:endParaRPr lang="en-US" sz="1300" dirty="0"/>
          </a:p>
        </p:txBody>
      </p:sp>
      <p:sp>
        <p:nvSpPr>
          <p:cNvPr id="13" name="Text 11"/>
          <p:cNvSpPr/>
          <p:nvPr/>
        </p:nvSpPr>
        <p:spPr>
          <a:xfrm>
            <a:off x="6172200" y="3931920"/>
            <a:ext cx="2743200" cy="182880"/>
          </a:xfrm>
          <a:prstGeom prst="rect">
            <a:avLst/>
          </a:prstGeom>
          <a:noFill/>
          <a:ln/>
        </p:spPr>
        <p:txBody>
          <a:bodyPr wrap="square"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FIELD</a:t>
            </a:r>
            <a:endParaRPr lang="en-US" sz="800" dirty="0"/>
          </a:p>
        </p:txBody>
      </p:sp>
      <p:sp>
        <p:nvSpPr>
          <p:cNvPr id="14" name="Text 12"/>
          <p:cNvSpPr/>
          <p:nvPr/>
        </p:nvSpPr>
        <p:spPr>
          <a:xfrm>
            <a:off x="6172200" y="4133088"/>
            <a:ext cx="2743200" cy="25603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CSCW · Social Computing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502920" y="256032"/>
            <a:ext cx="228600" cy="36576"/>
          </a:xfrm>
          <a:prstGeom prst="rect">
            <a:avLst/>
          </a:prstGeom>
          <a:solidFill>
            <a:srgbClr val="3B4FD8"/>
          </a:solidFill>
          <a:ln w="12700">
            <a:solidFill>
              <a:srgbClr val="3B4FD8"/>
            </a:solidFill>
            <a:prstDash val="solid"/>
          </a:ln>
        </p:spPr>
      </p:sp>
      <p:sp>
        <p:nvSpPr>
          <p:cNvPr id="3" name="Text 1"/>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WHY THIS MATTERS</a:t>
            </a:r>
            <a:endParaRPr lang="en-US" sz="900" b="1" dirty="0"/>
          </a:p>
        </p:txBody>
      </p:sp>
      <p:sp>
        <p:nvSpPr>
          <p:cNvPr id="4" name="Text 2"/>
          <p:cNvSpPr/>
          <p:nvPr/>
        </p:nvSpPr>
        <p:spPr>
          <a:xfrm>
            <a:off x="502920" y="525780"/>
            <a:ext cx="8229600" cy="502920"/>
          </a:xfrm>
          <a:prstGeom prst="rect">
            <a:avLst/>
          </a:prstGeom>
          <a:noFill/>
          <a:ln/>
        </p:spPr>
        <p:txBody>
          <a:bodyPr wrap="square" lIns="0" tIns="0" rIns="0" bIns="0" rtlCol="0" anchor="ctr"/>
          <a:lstStyle/>
          <a:p>
            <a:pPr marL="0" indent="0" algn="l">
              <a:buNone/>
            </a:pPr>
            <a:r>
              <a:rPr lang="en-US" sz="2000" b="1" dirty="0">
                <a:solidFill>
                  <a:srgbClr val="0F172A"/>
                </a:solidFill>
                <a:latin typeface="Arial Black" pitchFamily="34" charset="0"/>
                <a:ea typeface="Arial Black" pitchFamily="34" charset="-122"/>
                <a:cs typeface="Arial Black" pitchFamily="34" charset="-120"/>
              </a:rPr>
              <a:t>We Are Living Inside The Biggest</a:t>
            </a:r>
            <a:endParaRPr lang="en-US" sz="2000" dirty="0"/>
          </a:p>
        </p:txBody>
      </p:sp>
      <p:sp>
        <p:nvSpPr>
          <p:cNvPr id="5" name="Text 3"/>
          <p:cNvSpPr/>
          <p:nvPr/>
        </p:nvSpPr>
        <p:spPr>
          <a:xfrm>
            <a:off x="502920" y="891540"/>
            <a:ext cx="8229600" cy="502920"/>
          </a:xfrm>
          <a:prstGeom prst="rect">
            <a:avLst/>
          </a:prstGeom>
          <a:noFill/>
          <a:ln/>
        </p:spPr>
        <p:txBody>
          <a:bodyPr wrap="square" lIns="0" tIns="0" rIns="0" bIns="0" rtlCol="0" anchor="ctr"/>
          <a:lstStyle/>
          <a:p>
            <a:pPr marL="0" indent="0" algn="l">
              <a:buNone/>
            </a:pPr>
            <a:r>
              <a:rPr lang="en-US" sz="2400" b="1" dirty="0">
                <a:solidFill>
                  <a:srgbClr val="0891B2"/>
                </a:solidFill>
                <a:latin typeface="Arial Black" pitchFamily="34" charset="0"/>
                <a:ea typeface="Arial Black" pitchFamily="34" charset="-122"/>
                <a:cs typeface="Arial Black" pitchFamily="34" charset="-120"/>
              </a:rPr>
              <a:t>Collaboration Experiment in History</a:t>
            </a:r>
            <a:endParaRPr lang="en-US" sz="2400" dirty="0"/>
          </a:p>
        </p:txBody>
      </p:sp>
      <p:sp>
        <p:nvSpPr>
          <p:cNvPr id="6" name="Shape 4"/>
          <p:cNvSpPr/>
          <p:nvPr/>
        </p:nvSpPr>
        <p:spPr>
          <a:xfrm>
            <a:off x="502920" y="1417320"/>
            <a:ext cx="2743200" cy="1508760"/>
          </a:xfrm>
          <a:prstGeom prst="rect">
            <a:avLst/>
          </a:prstGeom>
          <a:solidFill>
            <a:srgbClr val="FFFFFF"/>
          </a:solidFill>
          <a:ln w="6350">
            <a:solidFill>
              <a:srgbClr val="3B4FD8"/>
            </a:solidFill>
            <a:prstDash val="solid"/>
          </a:ln>
          <a:effectLst>
            <a:outerShdw blurRad="101600" dist="25400" dir="8100000" algn="bl" rotWithShape="0">
              <a:srgbClr val="3B4FD8">
                <a:alpha val="8000"/>
              </a:srgbClr>
            </a:outerShdw>
          </a:effectLst>
        </p:spPr>
      </p:sp>
      <p:sp>
        <p:nvSpPr>
          <p:cNvPr id="7" name="Shape 5"/>
          <p:cNvSpPr/>
          <p:nvPr/>
        </p:nvSpPr>
        <p:spPr>
          <a:xfrm>
            <a:off x="502920" y="1417320"/>
            <a:ext cx="2743200" cy="45720"/>
          </a:xfrm>
          <a:prstGeom prst="rect">
            <a:avLst/>
          </a:prstGeom>
          <a:solidFill>
            <a:srgbClr val="3B4FD8"/>
          </a:solidFill>
          <a:ln w="12700">
            <a:solidFill>
              <a:srgbClr val="3B4FD8"/>
            </a:solidFill>
            <a:prstDash val="solid"/>
          </a:ln>
        </p:spPr>
      </p:sp>
      <p:sp>
        <p:nvSpPr>
          <p:cNvPr id="8" name="Text 6"/>
          <p:cNvSpPr/>
          <p:nvPr/>
        </p:nvSpPr>
        <p:spPr>
          <a:xfrm>
            <a:off x="640080" y="1508760"/>
            <a:ext cx="2468880" cy="777240"/>
          </a:xfrm>
          <a:prstGeom prst="rect">
            <a:avLst/>
          </a:prstGeom>
          <a:noFill/>
          <a:ln/>
        </p:spPr>
        <p:txBody>
          <a:bodyPr wrap="square" lIns="0" tIns="0" rIns="0" bIns="0" rtlCol="0" anchor="ctr"/>
          <a:lstStyle/>
          <a:p>
            <a:pPr marL="0" indent="0" algn="l">
              <a:buNone/>
            </a:pPr>
            <a:r>
              <a:rPr lang="en-US" sz="4600" b="1" dirty="0">
                <a:solidFill>
                  <a:srgbClr val="3B4FD8"/>
                </a:solidFill>
                <a:latin typeface="Arial Black" pitchFamily="34" charset="0"/>
                <a:ea typeface="Arial Black" pitchFamily="34" charset="-122"/>
                <a:cs typeface="Arial Black" pitchFamily="34" charset="-120"/>
              </a:rPr>
              <a:t>5.24B</a:t>
            </a:r>
            <a:endParaRPr lang="en-US" sz="4600" dirty="0"/>
          </a:p>
        </p:txBody>
      </p:sp>
      <p:sp>
        <p:nvSpPr>
          <p:cNvPr id="9" name="Text 7"/>
          <p:cNvSpPr/>
          <p:nvPr/>
        </p:nvSpPr>
        <p:spPr>
          <a:xfrm>
            <a:off x="640080" y="2331720"/>
            <a:ext cx="2468880" cy="502920"/>
          </a:xfrm>
          <a:prstGeom prst="rect">
            <a:avLst/>
          </a:prstGeom>
          <a:noFill/>
          <a:ln/>
        </p:spPr>
        <p:txBody>
          <a:bodyPr wrap="square"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Active social media users worldwide — 2025</a:t>
            </a:r>
            <a:endParaRPr lang="en-US" sz="1050" b="1" dirty="0"/>
          </a:p>
        </p:txBody>
      </p:sp>
      <p:sp>
        <p:nvSpPr>
          <p:cNvPr id="10" name="Shape 8"/>
          <p:cNvSpPr/>
          <p:nvPr/>
        </p:nvSpPr>
        <p:spPr>
          <a:xfrm>
            <a:off x="3410712" y="1417320"/>
            <a:ext cx="2743200" cy="1508760"/>
          </a:xfrm>
          <a:prstGeom prst="rect">
            <a:avLst/>
          </a:prstGeom>
          <a:solidFill>
            <a:srgbClr val="FFFFFF"/>
          </a:solidFill>
          <a:ln w="6350">
            <a:solidFill>
              <a:srgbClr val="7C3AED"/>
            </a:solidFill>
            <a:prstDash val="solid"/>
          </a:ln>
          <a:effectLst>
            <a:outerShdw blurRad="101600" dist="25400" dir="8100000" algn="bl" rotWithShape="0">
              <a:srgbClr val="3B4FD8">
                <a:alpha val="8000"/>
              </a:srgbClr>
            </a:outerShdw>
          </a:effectLst>
        </p:spPr>
      </p:sp>
      <p:sp>
        <p:nvSpPr>
          <p:cNvPr id="11" name="Shape 9"/>
          <p:cNvSpPr/>
          <p:nvPr/>
        </p:nvSpPr>
        <p:spPr>
          <a:xfrm>
            <a:off x="3410712" y="1417320"/>
            <a:ext cx="2743200" cy="45720"/>
          </a:xfrm>
          <a:prstGeom prst="rect">
            <a:avLst/>
          </a:prstGeom>
          <a:solidFill>
            <a:srgbClr val="7C3AED"/>
          </a:solidFill>
          <a:ln w="12700">
            <a:solidFill>
              <a:srgbClr val="7C3AED"/>
            </a:solidFill>
            <a:prstDash val="solid"/>
          </a:ln>
        </p:spPr>
      </p:sp>
      <p:sp>
        <p:nvSpPr>
          <p:cNvPr id="12" name="Text 10"/>
          <p:cNvSpPr/>
          <p:nvPr/>
        </p:nvSpPr>
        <p:spPr>
          <a:xfrm>
            <a:off x="3547872" y="1508760"/>
            <a:ext cx="2468880" cy="777240"/>
          </a:xfrm>
          <a:prstGeom prst="rect">
            <a:avLst/>
          </a:prstGeom>
          <a:noFill/>
          <a:ln/>
        </p:spPr>
        <p:txBody>
          <a:bodyPr wrap="square" lIns="0" tIns="0" rIns="0" bIns="0" rtlCol="0" anchor="ctr"/>
          <a:lstStyle/>
          <a:p>
            <a:pPr marL="0" indent="0" algn="l">
              <a:buNone/>
            </a:pPr>
            <a:r>
              <a:rPr lang="en-US" sz="4600" b="1" dirty="0">
                <a:solidFill>
                  <a:srgbClr val="7C3AED"/>
                </a:solidFill>
                <a:latin typeface="Arial Black" pitchFamily="34" charset="0"/>
                <a:ea typeface="Arial Black" pitchFamily="34" charset="-122"/>
                <a:cs typeface="Arial Black" pitchFamily="34" charset="-120"/>
              </a:rPr>
              <a:t>$4.9T</a:t>
            </a:r>
            <a:endParaRPr lang="en-US" sz="4600" dirty="0"/>
          </a:p>
        </p:txBody>
      </p:sp>
      <p:sp>
        <p:nvSpPr>
          <p:cNvPr id="13" name="Text 11"/>
          <p:cNvSpPr/>
          <p:nvPr/>
        </p:nvSpPr>
        <p:spPr>
          <a:xfrm>
            <a:off x="3547872" y="2331720"/>
            <a:ext cx="2468880" cy="502920"/>
          </a:xfrm>
          <a:prstGeom prst="rect">
            <a:avLst/>
          </a:prstGeom>
          <a:noFill/>
          <a:ln/>
        </p:spPr>
        <p:txBody>
          <a:bodyPr wrap="square"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Projected collaboration tools market by 2030</a:t>
            </a:r>
            <a:endParaRPr lang="en-US" sz="1050" b="1" dirty="0"/>
          </a:p>
        </p:txBody>
      </p:sp>
      <p:sp>
        <p:nvSpPr>
          <p:cNvPr id="14" name="Shape 12"/>
          <p:cNvSpPr/>
          <p:nvPr/>
        </p:nvSpPr>
        <p:spPr>
          <a:xfrm>
            <a:off x="6318504" y="1417320"/>
            <a:ext cx="2322576" cy="1508760"/>
          </a:xfrm>
          <a:prstGeom prst="rect">
            <a:avLst/>
          </a:prstGeom>
          <a:solidFill>
            <a:srgbClr val="FFFFFF"/>
          </a:solidFill>
          <a:ln w="6350">
            <a:solidFill>
              <a:srgbClr val="0891B2"/>
            </a:solidFill>
            <a:prstDash val="solid"/>
          </a:ln>
          <a:effectLst>
            <a:outerShdw blurRad="101600" dist="25400" dir="8100000" algn="bl" rotWithShape="0">
              <a:srgbClr val="3B4FD8">
                <a:alpha val="8000"/>
              </a:srgbClr>
            </a:outerShdw>
          </a:effectLst>
        </p:spPr>
      </p:sp>
      <p:sp>
        <p:nvSpPr>
          <p:cNvPr id="15" name="Shape 13"/>
          <p:cNvSpPr/>
          <p:nvPr/>
        </p:nvSpPr>
        <p:spPr>
          <a:xfrm>
            <a:off x="6318504" y="1417320"/>
            <a:ext cx="2322576" cy="45720"/>
          </a:xfrm>
          <a:prstGeom prst="rect">
            <a:avLst/>
          </a:prstGeom>
          <a:solidFill>
            <a:srgbClr val="0891B2"/>
          </a:solidFill>
          <a:ln w="12700">
            <a:solidFill>
              <a:srgbClr val="0891B2"/>
            </a:solidFill>
            <a:prstDash val="solid"/>
          </a:ln>
        </p:spPr>
      </p:sp>
      <p:sp>
        <p:nvSpPr>
          <p:cNvPr id="16" name="Text 14"/>
          <p:cNvSpPr/>
          <p:nvPr/>
        </p:nvSpPr>
        <p:spPr>
          <a:xfrm>
            <a:off x="6455664" y="1508760"/>
            <a:ext cx="2468880" cy="777240"/>
          </a:xfrm>
          <a:prstGeom prst="rect">
            <a:avLst/>
          </a:prstGeom>
          <a:noFill/>
          <a:ln/>
        </p:spPr>
        <p:txBody>
          <a:bodyPr wrap="square" lIns="0" tIns="0" rIns="0" bIns="0" rtlCol="0" anchor="ctr"/>
          <a:lstStyle/>
          <a:p>
            <a:pPr marL="0" indent="0" algn="l">
              <a:buNone/>
            </a:pPr>
            <a:r>
              <a:rPr lang="en-US" sz="4600" b="1" dirty="0">
                <a:solidFill>
                  <a:srgbClr val="0891B2"/>
                </a:solidFill>
                <a:latin typeface="Arial Black" pitchFamily="34" charset="0"/>
                <a:ea typeface="Arial Black" pitchFamily="34" charset="-122"/>
                <a:cs typeface="Arial Black" pitchFamily="34" charset="-120"/>
              </a:rPr>
              <a:t>100M+</a:t>
            </a:r>
            <a:endParaRPr lang="en-US" sz="4600" dirty="0"/>
          </a:p>
        </p:txBody>
      </p:sp>
      <p:sp>
        <p:nvSpPr>
          <p:cNvPr id="17" name="Text 15"/>
          <p:cNvSpPr/>
          <p:nvPr/>
        </p:nvSpPr>
        <p:spPr>
          <a:xfrm>
            <a:off x="6455664" y="2331720"/>
            <a:ext cx="2468880" cy="502920"/>
          </a:xfrm>
          <a:prstGeom prst="rect">
            <a:avLst/>
          </a:prstGeom>
          <a:noFill/>
          <a:ln/>
        </p:spPr>
        <p:txBody>
          <a:bodyPr wrap="square"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Developers collaborating on GitHub worldwide</a:t>
            </a:r>
            <a:endParaRPr lang="en-US" sz="1050" b="1" dirty="0"/>
          </a:p>
        </p:txBody>
      </p:sp>
      <p:sp>
        <p:nvSpPr>
          <p:cNvPr id="18" name="Shape 16"/>
          <p:cNvSpPr/>
          <p:nvPr/>
        </p:nvSpPr>
        <p:spPr>
          <a:xfrm>
            <a:off x="502920" y="3063240"/>
            <a:ext cx="8138160" cy="1554480"/>
          </a:xfrm>
          <a:prstGeom prst="rect">
            <a:avLst/>
          </a:prstGeom>
          <a:solidFill>
            <a:srgbClr val="FFFFFF"/>
          </a:solidFill>
          <a:ln w="6350">
            <a:solidFill>
              <a:srgbClr val="3B4FD8"/>
            </a:solidFill>
            <a:prstDash val="solid"/>
          </a:ln>
          <a:effectLst>
            <a:outerShdw blurRad="101600" dist="25400" dir="8100000" algn="bl" rotWithShape="0">
              <a:srgbClr val="3B4FD8">
                <a:alpha val="8000"/>
              </a:srgbClr>
            </a:outerShdw>
          </a:effectLst>
        </p:spPr>
      </p:sp>
      <p:sp>
        <p:nvSpPr>
          <p:cNvPr id="19" name="Shape 17"/>
          <p:cNvSpPr/>
          <p:nvPr/>
        </p:nvSpPr>
        <p:spPr>
          <a:xfrm>
            <a:off x="502920" y="3063240"/>
            <a:ext cx="8138160" cy="45720"/>
          </a:xfrm>
          <a:prstGeom prst="rect">
            <a:avLst/>
          </a:prstGeom>
          <a:solidFill>
            <a:srgbClr val="3B4FD8"/>
          </a:solidFill>
          <a:ln w="12700">
            <a:solidFill>
              <a:srgbClr val="3B4FD8"/>
            </a:solidFill>
            <a:prstDash val="solid"/>
          </a:ln>
        </p:spPr>
      </p:sp>
      <p:sp>
        <p:nvSpPr>
          <p:cNvPr id="20" name="Text 18"/>
          <p:cNvSpPr/>
          <p:nvPr/>
        </p:nvSpPr>
        <p:spPr>
          <a:xfrm>
            <a:off x="685800" y="3154680"/>
            <a:ext cx="7772400" cy="274320"/>
          </a:xfrm>
          <a:prstGeom prst="rect">
            <a:avLst/>
          </a:prstGeom>
          <a:noFill/>
          <a:ln/>
        </p:spPr>
        <p:txBody>
          <a:bodyPr wrap="square" lIns="0" tIns="0" rIns="0" bIns="0" rtlCol="0" anchor="ctr"/>
          <a:lstStyle/>
          <a:p>
            <a:pPr marL="0" indent="0" algn="l">
              <a:buNone/>
            </a:pPr>
            <a:r>
              <a:rPr lang="en-US" sz="1400" b="1" dirty="0">
                <a:solidFill>
                  <a:srgbClr val="3B4FD8"/>
                </a:solidFill>
                <a:latin typeface="Arial Black" pitchFamily="34" charset="0"/>
                <a:ea typeface="Arial Black" pitchFamily="34" charset="-122"/>
                <a:cs typeface="Arial Black" pitchFamily="34" charset="-120"/>
              </a:rPr>
              <a:t>The Core Question</a:t>
            </a:r>
            <a:endParaRPr lang="en-US" sz="1400" dirty="0"/>
          </a:p>
        </p:txBody>
      </p:sp>
      <p:sp>
        <p:nvSpPr>
          <p:cNvPr id="21" name="Text 19"/>
          <p:cNvSpPr/>
          <p:nvPr/>
        </p:nvSpPr>
        <p:spPr>
          <a:xfrm>
            <a:off x="685800" y="3456432"/>
            <a:ext cx="7772400" cy="1005840"/>
          </a:xfrm>
          <a:prstGeom prst="rect">
            <a:avLst/>
          </a:prstGeom>
          <a:noFill/>
          <a:ln/>
        </p:spPr>
        <p:txBody>
          <a:bodyPr wrap="square" rtlCol="0" anchor="ctr"/>
          <a:lstStyle/>
          <a:p>
            <a:pPr marL="0" indent="0" algn="l">
              <a:buNone/>
            </a:pPr>
            <a:r>
              <a:rPr lang="en-US" sz="1300" dirty="0">
                <a:solidFill>
                  <a:srgbClr val="334155"/>
                </a:solidFill>
                <a:latin typeface="Calibri" pitchFamily="34" charset="0"/>
                <a:ea typeface="Calibri" pitchFamily="34" charset="-122"/>
                <a:cs typeface="Calibri" pitchFamily="34" charset="-120"/>
              </a:rPr>
              <a:t>These systems were deliberately designed. Someone made choices about what they allow, what they prevent, and who benefits. That is what this field studies, understanding those choices and learning how to make better ones.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502920" y="256032"/>
            <a:ext cx="228600" cy="36576"/>
          </a:xfrm>
          <a:prstGeom prst="rect">
            <a:avLst/>
          </a:prstGeom>
          <a:solidFill>
            <a:srgbClr val="3B4FD8"/>
          </a:solidFill>
          <a:ln w="12700">
            <a:solidFill>
              <a:srgbClr val="3B4FD8"/>
            </a:solidFill>
            <a:prstDash val="solid"/>
          </a:ln>
        </p:spPr>
      </p:sp>
      <p:sp>
        <p:nvSpPr>
          <p:cNvPr id="3" name="Text 1"/>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CORE CONCEPTS</a:t>
            </a:r>
            <a:endParaRPr lang="en-US" sz="900" dirty="0"/>
          </a:p>
        </p:txBody>
      </p:sp>
      <p:sp>
        <p:nvSpPr>
          <p:cNvPr id="4" name="Text 2"/>
          <p:cNvSpPr/>
          <p:nvPr/>
        </p:nvSpPr>
        <p:spPr>
          <a:xfrm>
            <a:off x="274320" y="520942"/>
            <a:ext cx="8229600" cy="457200"/>
          </a:xfrm>
          <a:prstGeom prst="rect">
            <a:avLst/>
          </a:prstGeom>
          <a:noFill/>
          <a:ln/>
        </p:spPr>
        <p:txBody>
          <a:bodyPr wrap="square" lIns="0" tIns="0" rIns="0" bIns="0" rtlCol="0" anchor="ctr"/>
          <a:lstStyle/>
          <a:p>
            <a:pPr marL="0" indent="0" algn="l">
              <a:buNone/>
            </a:pPr>
            <a:r>
              <a:rPr lang="en-US" sz="2400" b="1" dirty="0">
                <a:solidFill>
                  <a:srgbClr val="0F172A"/>
                </a:solidFill>
                <a:latin typeface="Arial Black" pitchFamily="34" charset="0"/>
                <a:ea typeface="Arial Black" pitchFamily="34" charset="-122"/>
                <a:cs typeface="Arial Black" pitchFamily="34" charset="-120"/>
              </a:rPr>
              <a:t>Two Fields, </a:t>
            </a:r>
            <a:endParaRPr lang="en-US" sz="2400" dirty="0"/>
          </a:p>
        </p:txBody>
      </p:sp>
      <p:sp>
        <p:nvSpPr>
          <p:cNvPr id="5" name="Text 3"/>
          <p:cNvSpPr/>
          <p:nvPr/>
        </p:nvSpPr>
        <p:spPr>
          <a:xfrm>
            <a:off x="2247382" y="511665"/>
            <a:ext cx="8229600" cy="457200"/>
          </a:xfrm>
          <a:prstGeom prst="rect">
            <a:avLst/>
          </a:prstGeom>
          <a:noFill/>
          <a:ln/>
        </p:spPr>
        <p:txBody>
          <a:bodyPr wrap="square" lIns="0" tIns="0" rIns="0" bIns="0" rtlCol="0" anchor="ctr"/>
          <a:lstStyle/>
          <a:p>
            <a:pPr marL="0" indent="0" algn="l">
              <a:buNone/>
            </a:pPr>
            <a:r>
              <a:rPr lang="en-US" sz="2400" b="1" dirty="0">
                <a:solidFill>
                  <a:srgbClr val="3B4FD8"/>
                </a:solidFill>
                <a:latin typeface="Arial Black" pitchFamily="34" charset="0"/>
                <a:ea typeface="Arial Black" pitchFamily="34" charset="-122"/>
                <a:cs typeface="Arial Black" pitchFamily="34" charset="-120"/>
              </a:rPr>
              <a:t>One Vision</a:t>
            </a:r>
            <a:endParaRPr lang="en-US" sz="2400" dirty="0"/>
          </a:p>
        </p:txBody>
      </p:sp>
      <p:sp>
        <p:nvSpPr>
          <p:cNvPr id="6" name="Shape 4"/>
          <p:cNvSpPr/>
          <p:nvPr/>
        </p:nvSpPr>
        <p:spPr>
          <a:xfrm>
            <a:off x="274320" y="1142867"/>
            <a:ext cx="4160520" cy="3017652"/>
          </a:xfrm>
          <a:prstGeom prst="rect">
            <a:avLst/>
          </a:prstGeom>
          <a:solidFill>
            <a:srgbClr val="FFFFFF"/>
          </a:solidFill>
          <a:ln w="6350">
            <a:solidFill>
              <a:srgbClr val="3B4FD8"/>
            </a:solidFill>
            <a:prstDash val="solid"/>
          </a:ln>
          <a:effectLst>
            <a:outerShdw blurRad="101600" dist="25400" dir="8100000" algn="bl" rotWithShape="0">
              <a:srgbClr val="3B4FD8">
                <a:alpha val="8000"/>
              </a:srgbClr>
            </a:outerShdw>
          </a:effectLst>
        </p:spPr>
      </p:sp>
      <p:sp>
        <p:nvSpPr>
          <p:cNvPr id="7" name="Shape 5"/>
          <p:cNvSpPr/>
          <p:nvPr/>
        </p:nvSpPr>
        <p:spPr>
          <a:xfrm>
            <a:off x="274320" y="1143533"/>
            <a:ext cx="4160520" cy="45720"/>
          </a:xfrm>
          <a:prstGeom prst="rect">
            <a:avLst/>
          </a:prstGeom>
          <a:solidFill>
            <a:srgbClr val="3B4FD8"/>
          </a:solidFill>
          <a:ln w="12700">
            <a:solidFill>
              <a:srgbClr val="3B4FD8"/>
            </a:solidFill>
            <a:prstDash val="solid"/>
          </a:ln>
        </p:spPr>
      </p:sp>
      <p:sp>
        <p:nvSpPr>
          <p:cNvPr id="8" name="Text 6"/>
          <p:cNvSpPr/>
          <p:nvPr/>
        </p:nvSpPr>
        <p:spPr>
          <a:xfrm>
            <a:off x="411480" y="1362323"/>
            <a:ext cx="3840480" cy="256032"/>
          </a:xfrm>
          <a:prstGeom prst="rect">
            <a:avLst/>
          </a:prstGeom>
          <a:noFill/>
          <a:ln/>
        </p:spPr>
        <p:txBody>
          <a:bodyPr wrap="square" rtlCol="0" anchor="ctr"/>
          <a:lstStyle/>
          <a:p>
            <a:pPr marL="0" indent="0">
              <a:buNone/>
            </a:pPr>
            <a:r>
              <a:rPr lang="en-US" sz="1100" b="1" kern="0" spc="100" dirty="0">
                <a:solidFill>
                  <a:srgbClr val="3B4FD8"/>
                </a:solidFill>
                <a:latin typeface="Arial Black" pitchFamily="34" charset="0"/>
                <a:ea typeface="Arial Black" pitchFamily="34" charset="-122"/>
                <a:cs typeface="Arial Black" pitchFamily="34" charset="-120"/>
              </a:rPr>
              <a:t>SOCIAL COMPUTING</a:t>
            </a:r>
            <a:endParaRPr lang="en-US" sz="1100" dirty="0"/>
          </a:p>
        </p:txBody>
      </p:sp>
      <p:sp>
        <p:nvSpPr>
          <p:cNvPr id="9" name="Text 7"/>
          <p:cNvSpPr/>
          <p:nvPr/>
        </p:nvSpPr>
        <p:spPr>
          <a:xfrm>
            <a:off x="411480" y="1298448"/>
            <a:ext cx="3886200" cy="2743200"/>
          </a:xfrm>
          <a:prstGeom prst="rect">
            <a:avLst/>
          </a:prstGeom>
          <a:noFill/>
          <a:ln/>
        </p:spPr>
        <p:txBody>
          <a:bodyPr wrap="square" rtlCol="0" anchor="ctr"/>
          <a:lstStyle/>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User-generated content</a:t>
            </a:r>
            <a:r>
              <a:rPr lang="en-US" sz="1100" dirty="0">
                <a:solidFill>
                  <a:srgbClr val="334155"/>
                </a:solidFill>
                <a:latin typeface="Calibri" pitchFamily="34" charset="0"/>
                <a:ea typeface="Calibri" pitchFamily="34" charset="-122"/>
                <a:cs typeface="Calibri" pitchFamily="34" charset="-120"/>
              </a:rPr>
              <a:t> : Wikipedia, Reddit, YouTube. Users create the value.</a:t>
            </a:r>
            <a:endParaRPr lang="en-US" sz="1100" dirty="0"/>
          </a:p>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Collective intelligence : </a:t>
            </a:r>
            <a:r>
              <a:rPr lang="en-US" sz="1100" dirty="0">
                <a:solidFill>
                  <a:srgbClr val="334155"/>
                </a:solidFill>
                <a:latin typeface="Calibri" pitchFamily="34" charset="0"/>
                <a:ea typeface="Calibri" pitchFamily="34" charset="-122"/>
                <a:cs typeface="Calibri" pitchFamily="34" charset="-120"/>
              </a:rPr>
              <a:t>Millions contribute knowledge no single expert could.</a:t>
            </a:r>
            <a:endParaRPr lang="en-US" sz="1100" dirty="0"/>
          </a:p>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Social feedback loops:</a:t>
            </a:r>
            <a:r>
              <a:rPr lang="en-US" sz="1100" dirty="0">
                <a:solidFill>
                  <a:srgbClr val="334155"/>
                </a:solidFill>
                <a:latin typeface="Calibri" pitchFamily="34" charset="0"/>
                <a:ea typeface="Calibri" pitchFamily="34" charset="-122"/>
                <a:cs typeface="Calibri" pitchFamily="34" charset="-120"/>
              </a:rPr>
              <a:t> Upvotes, likes shape what gets seen.</a:t>
            </a:r>
            <a:endParaRPr lang="en-US" sz="1100" dirty="0"/>
          </a:p>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Crowdsourcing</a:t>
            </a:r>
            <a:r>
              <a:rPr lang="en-US" sz="1100" dirty="0">
                <a:solidFill>
                  <a:srgbClr val="334155"/>
                </a:solidFill>
                <a:latin typeface="Calibri" pitchFamily="34" charset="0"/>
                <a:ea typeface="Calibri" pitchFamily="34" charset="-122"/>
                <a:cs typeface="Calibri" pitchFamily="34" charset="-120"/>
              </a:rPr>
              <a:t> : Distributing tasks: Crowdvoting, Citizen Science, Open Innovation.</a:t>
            </a:r>
            <a:endParaRPr lang="en-US" sz="1100" dirty="0"/>
          </a:p>
        </p:txBody>
      </p:sp>
      <p:sp>
        <p:nvSpPr>
          <p:cNvPr id="10" name="Shape 8"/>
          <p:cNvSpPr/>
          <p:nvPr/>
        </p:nvSpPr>
        <p:spPr>
          <a:xfrm>
            <a:off x="4709160" y="1133856"/>
            <a:ext cx="4160520" cy="3026664"/>
          </a:xfrm>
          <a:prstGeom prst="rect">
            <a:avLst/>
          </a:prstGeom>
          <a:solidFill>
            <a:srgbClr val="FFFFFF"/>
          </a:solidFill>
          <a:ln w="6350">
            <a:solidFill>
              <a:srgbClr val="0891B2"/>
            </a:solidFill>
            <a:prstDash val="solid"/>
          </a:ln>
          <a:effectLst>
            <a:outerShdw blurRad="101600" dist="25400" dir="8100000" algn="bl" rotWithShape="0">
              <a:srgbClr val="3B4FD8">
                <a:alpha val="8000"/>
              </a:srgbClr>
            </a:outerShdw>
          </a:effectLst>
        </p:spPr>
      </p:sp>
      <p:sp>
        <p:nvSpPr>
          <p:cNvPr id="11" name="Shape 9"/>
          <p:cNvSpPr/>
          <p:nvPr/>
        </p:nvSpPr>
        <p:spPr>
          <a:xfrm>
            <a:off x="4709160" y="1133856"/>
            <a:ext cx="4160520" cy="45720"/>
          </a:xfrm>
          <a:prstGeom prst="rect">
            <a:avLst/>
          </a:prstGeom>
          <a:solidFill>
            <a:srgbClr val="0891B2"/>
          </a:solidFill>
          <a:ln w="12700">
            <a:solidFill>
              <a:srgbClr val="0891B2"/>
            </a:solidFill>
            <a:prstDash val="solid"/>
          </a:ln>
        </p:spPr>
      </p:sp>
      <p:sp>
        <p:nvSpPr>
          <p:cNvPr id="12" name="Text 10"/>
          <p:cNvSpPr/>
          <p:nvPr/>
        </p:nvSpPr>
        <p:spPr>
          <a:xfrm>
            <a:off x="4846320" y="1364720"/>
            <a:ext cx="3840480" cy="256032"/>
          </a:xfrm>
          <a:prstGeom prst="rect">
            <a:avLst/>
          </a:prstGeom>
          <a:noFill/>
          <a:ln/>
        </p:spPr>
        <p:txBody>
          <a:bodyPr wrap="square" rtlCol="0" anchor="ctr"/>
          <a:lstStyle/>
          <a:p>
            <a:pPr marL="0" indent="0">
              <a:buNone/>
            </a:pPr>
            <a:r>
              <a:rPr lang="en-US" sz="1100" b="1" kern="0" spc="100" dirty="0">
                <a:solidFill>
                  <a:srgbClr val="0891B2"/>
                </a:solidFill>
                <a:latin typeface="Arial Black" pitchFamily="34" charset="0"/>
                <a:ea typeface="Arial Black" pitchFamily="34" charset="-122"/>
                <a:cs typeface="Arial Black" pitchFamily="34" charset="-120"/>
              </a:rPr>
              <a:t>CSCW - GROUPWARE</a:t>
            </a:r>
            <a:endParaRPr lang="en-US" sz="1100" dirty="0"/>
          </a:p>
        </p:txBody>
      </p:sp>
      <p:sp>
        <p:nvSpPr>
          <p:cNvPr id="13" name="Text 11"/>
          <p:cNvSpPr/>
          <p:nvPr/>
        </p:nvSpPr>
        <p:spPr>
          <a:xfrm>
            <a:off x="4846320" y="1298448"/>
            <a:ext cx="3886200" cy="2743200"/>
          </a:xfrm>
          <a:prstGeom prst="rect">
            <a:avLst/>
          </a:prstGeom>
          <a:noFill/>
          <a:ln/>
        </p:spPr>
        <p:txBody>
          <a:bodyPr wrap="square" rtlCol="0" anchor="ctr"/>
          <a:lstStyle/>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Communication</a:t>
            </a:r>
            <a:r>
              <a:rPr lang="en-US" sz="1100" dirty="0">
                <a:solidFill>
                  <a:srgbClr val="334155"/>
                </a:solidFill>
                <a:latin typeface="Calibri" pitchFamily="34" charset="0"/>
                <a:ea typeface="Calibri" pitchFamily="34" charset="-122"/>
                <a:cs typeface="Calibri" pitchFamily="34" charset="-120"/>
              </a:rPr>
              <a:t> : Exchange of messages: email, chat, video calls.</a:t>
            </a:r>
            <a:endParaRPr lang="en-US" sz="1100" dirty="0"/>
          </a:p>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Coordination</a:t>
            </a:r>
            <a:r>
              <a:rPr lang="en-US" sz="1100" dirty="0">
                <a:solidFill>
                  <a:srgbClr val="334155"/>
                </a:solidFill>
                <a:latin typeface="Calibri" pitchFamily="34" charset="0"/>
                <a:ea typeface="Calibri" pitchFamily="34" charset="-122"/>
                <a:cs typeface="Calibri" pitchFamily="34" charset="-120"/>
              </a:rPr>
              <a:t> :  Managing dependencies: who does what, by when.</a:t>
            </a:r>
            <a:endParaRPr lang="en-US" sz="1100" dirty="0"/>
          </a:p>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Cooperation</a:t>
            </a:r>
            <a:r>
              <a:rPr lang="en-US" sz="1100" dirty="0">
                <a:solidFill>
                  <a:srgbClr val="334155"/>
                </a:solidFill>
                <a:latin typeface="Calibri" pitchFamily="34" charset="0"/>
                <a:ea typeface="Calibri" pitchFamily="34" charset="-122"/>
                <a:cs typeface="Calibri" pitchFamily="34" charset="-120"/>
              </a:rPr>
              <a:t> : Joint production of a shared artifact: document, code.</a:t>
            </a:r>
            <a:endParaRPr lang="en-US" sz="1100" dirty="0"/>
          </a:p>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Awareness</a:t>
            </a:r>
            <a:r>
              <a:rPr lang="en-US" sz="1100" dirty="0">
                <a:solidFill>
                  <a:srgbClr val="334155"/>
                </a:solidFill>
                <a:latin typeface="Calibri" pitchFamily="34" charset="0"/>
                <a:ea typeface="Calibri" pitchFamily="34" charset="-122"/>
                <a:cs typeface="Calibri" pitchFamily="34" charset="-120"/>
              </a:rPr>
              <a:t> : Knowing what collaborators are doing in real time.</a:t>
            </a:r>
            <a:endParaRPr lang="en-US" sz="1100" dirty="0"/>
          </a:p>
          <a:p>
            <a:pPr marL="342900" indent="-342900">
              <a:spcAft>
                <a:spcPts val="400"/>
              </a:spcAft>
              <a:buSzPct val="100000"/>
              <a:buChar char="•"/>
            </a:pPr>
            <a:r>
              <a:rPr lang="en-US" sz="1100" b="1" dirty="0">
                <a:solidFill>
                  <a:srgbClr val="334155"/>
                </a:solidFill>
                <a:latin typeface="Calibri" pitchFamily="34" charset="0"/>
                <a:ea typeface="Calibri" pitchFamily="34" charset="-122"/>
                <a:cs typeface="Calibri" pitchFamily="34" charset="-120"/>
              </a:rPr>
              <a:t>Groupware</a:t>
            </a:r>
            <a:r>
              <a:rPr lang="en-US" sz="1100" dirty="0">
                <a:solidFill>
                  <a:srgbClr val="334155"/>
                </a:solidFill>
                <a:latin typeface="Calibri" pitchFamily="34" charset="0"/>
                <a:ea typeface="Calibri" pitchFamily="34" charset="-122"/>
                <a:cs typeface="Calibri" pitchFamily="34" charset="-120"/>
              </a:rPr>
              <a:t>: Synchronous (Google Docs, Zoom), Async (Email, Git), Workflow tools.</a:t>
            </a:r>
            <a:endParaRPr lang="en-US" sz="1100" dirty="0"/>
          </a:p>
        </p:txBody>
      </p:sp>
      <p:sp>
        <p:nvSpPr>
          <p:cNvPr id="14" name="Shape 12"/>
          <p:cNvSpPr/>
          <p:nvPr/>
        </p:nvSpPr>
        <p:spPr>
          <a:xfrm>
            <a:off x="274320" y="4279392"/>
            <a:ext cx="64008" cy="658368"/>
          </a:xfrm>
          <a:prstGeom prst="rect">
            <a:avLst/>
          </a:prstGeom>
          <a:solidFill>
            <a:srgbClr val="3B4FD8"/>
          </a:solidFill>
          <a:ln w="12700">
            <a:solidFill>
              <a:srgbClr val="3B4FD8"/>
            </a:solidFill>
            <a:prstDash val="solid"/>
          </a:ln>
        </p:spPr>
      </p:sp>
      <p:sp>
        <p:nvSpPr>
          <p:cNvPr id="15" name="Shape 13"/>
          <p:cNvSpPr/>
          <p:nvPr/>
        </p:nvSpPr>
        <p:spPr>
          <a:xfrm>
            <a:off x="338328" y="4279392"/>
            <a:ext cx="8531352" cy="658368"/>
          </a:xfrm>
          <a:prstGeom prst="rect">
            <a:avLst/>
          </a:prstGeom>
          <a:solidFill>
            <a:srgbClr val="EEF0FB"/>
          </a:solidFill>
          <a:ln w="12700">
            <a:solidFill>
              <a:srgbClr val="EEF0FB"/>
            </a:solidFill>
            <a:prstDash val="solid"/>
          </a:ln>
        </p:spPr>
      </p:sp>
      <p:sp>
        <p:nvSpPr>
          <p:cNvPr id="16" name="Text 14"/>
          <p:cNvSpPr/>
          <p:nvPr/>
        </p:nvSpPr>
        <p:spPr>
          <a:xfrm>
            <a:off x="502920" y="4315968"/>
            <a:ext cx="8321040" cy="566928"/>
          </a:xfrm>
          <a:prstGeom prst="rect">
            <a:avLst/>
          </a:prstGeom>
          <a:noFill/>
          <a:ln/>
        </p:spPr>
        <p:txBody>
          <a:bodyPr wrap="square" rtlCol="0" anchor="ctr"/>
          <a:lstStyle/>
          <a:p>
            <a:pPr marL="0" indent="0">
              <a:buNone/>
            </a:pPr>
            <a:r>
              <a:rPr lang="en-US" sz="1150" b="1" i="1" dirty="0">
                <a:solidFill>
                  <a:srgbClr val="0F172A"/>
                </a:solidFill>
                <a:latin typeface="Calibri" pitchFamily="34" charset="0"/>
                <a:ea typeface="Calibri" pitchFamily="34" charset="-122"/>
                <a:cs typeface="Calibri" pitchFamily="34" charset="-120"/>
              </a:rPr>
              <a:t>Traditional computing</a:t>
            </a:r>
            <a:r>
              <a:rPr lang="en-US" sz="1150" i="1" dirty="0">
                <a:solidFill>
                  <a:srgbClr val="0F172A"/>
                </a:solidFill>
                <a:latin typeface="Calibri" pitchFamily="34" charset="0"/>
                <a:ea typeface="Calibri" pitchFamily="34" charset="-122"/>
                <a:cs typeface="Calibri" pitchFamily="34" charset="-120"/>
              </a:rPr>
              <a:t> = one person + one machine.   </a:t>
            </a:r>
            <a:r>
              <a:rPr lang="en-US" sz="1150" b="1" i="1" dirty="0">
                <a:solidFill>
                  <a:srgbClr val="0F172A"/>
                </a:solidFill>
                <a:latin typeface="Calibri" pitchFamily="34" charset="0"/>
                <a:ea typeface="Calibri" pitchFamily="34" charset="-122"/>
                <a:cs typeface="Calibri" pitchFamily="34" charset="-120"/>
              </a:rPr>
              <a:t>Collaborative computing </a:t>
            </a:r>
            <a:r>
              <a:rPr lang="en-US" sz="1150" i="1" dirty="0">
                <a:solidFill>
                  <a:srgbClr val="0F172A"/>
                </a:solidFill>
                <a:latin typeface="Calibri" pitchFamily="34" charset="0"/>
                <a:ea typeface="Calibri" pitchFamily="34" charset="-122"/>
                <a:cs typeface="Calibri" pitchFamily="34" charset="-120"/>
              </a:rPr>
              <a:t>= many people interacting with each other through machines. The computer becomes a medium for social activity, not just a tool.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502920" y="256032"/>
            <a:ext cx="228600" cy="36576"/>
          </a:xfrm>
          <a:prstGeom prst="rect">
            <a:avLst/>
          </a:prstGeom>
          <a:solidFill>
            <a:srgbClr val="3B4FD8"/>
          </a:solidFill>
          <a:ln w="12700">
            <a:solidFill>
              <a:srgbClr val="3B4FD8"/>
            </a:solidFill>
            <a:prstDash val="solid"/>
          </a:ln>
        </p:spPr>
      </p:sp>
      <p:sp>
        <p:nvSpPr>
          <p:cNvPr id="3" name="Text 1"/>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THEORETICAL FOUNDATION · JOHANSEN, 1988</a:t>
            </a:r>
            <a:endParaRPr lang="en-US" sz="900" dirty="0"/>
          </a:p>
        </p:txBody>
      </p:sp>
      <p:sp>
        <p:nvSpPr>
          <p:cNvPr id="4" name="Text 2"/>
          <p:cNvSpPr/>
          <p:nvPr/>
        </p:nvSpPr>
        <p:spPr>
          <a:xfrm>
            <a:off x="2219506" y="443484"/>
            <a:ext cx="8412480" cy="457200"/>
          </a:xfrm>
          <a:prstGeom prst="rect">
            <a:avLst/>
          </a:prstGeom>
          <a:noFill/>
          <a:ln/>
        </p:spPr>
        <p:txBody>
          <a:bodyPr wrap="square" lIns="0" tIns="0" rIns="0" bIns="0" rtlCol="0" anchor="ctr"/>
          <a:lstStyle/>
          <a:p>
            <a:pPr marL="0" indent="0" algn="l">
              <a:buNone/>
            </a:pPr>
            <a:r>
              <a:rPr lang="en-US" sz="3000" b="1" dirty="0">
                <a:solidFill>
                  <a:srgbClr val="0F172A"/>
                </a:solidFill>
                <a:latin typeface="Arial Black" pitchFamily="34" charset="0"/>
                <a:ea typeface="Arial Black" pitchFamily="34" charset="-122"/>
                <a:cs typeface="Arial Black" pitchFamily="34" charset="-120"/>
              </a:rPr>
              <a:t>The </a:t>
            </a:r>
            <a:r>
              <a:rPr lang="en-US" sz="3000" b="1" dirty="0">
                <a:solidFill>
                  <a:srgbClr val="0891B2"/>
                </a:solidFill>
                <a:latin typeface="Arial Black" pitchFamily="34" charset="0"/>
                <a:ea typeface="Arial Black" pitchFamily="34" charset="-122"/>
                <a:cs typeface="Arial Black" pitchFamily="34" charset="-120"/>
              </a:rPr>
              <a:t>Time – Space Matrix</a:t>
            </a:r>
            <a:endParaRPr lang="en-US" sz="3000" dirty="0"/>
          </a:p>
        </p:txBody>
      </p:sp>
      <p:sp>
        <p:nvSpPr>
          <p:cNvPr id="5" name="Shape 3"/>
          <p:cNvSpPr/>
          <p:nvPr/>
        </p:nvSpPr>
        <p:spPr>
          <a:xfrm>
            <a:off x="1417320" y="914400"/>
            <a:ext cx="3657600" cy="457200"/>
          </a:xfrm>
          <a:prstGeom prst="rect">
            <a:avLst/>
          </a:prstGeom>
          <a:solidFill>
            <a:srgbClr val="EEF0FB"/>
          </a:solidFill>
          <a:ln w="6350">
            <a:solidFill>
              <a:srgbClr val="3B4FD8"/>
            </a:solidFill>
            <a:prstDash val="solid"/>
          </a:ln>
        </p:spPr>
      </p:sp>
      <p:sp>
        <p:nvSpPr>
          <p:cNvPr id="6" name="Text 4"/>
          <p:cNvSpPr/>
          <p:nvPr/>
        </p:nvSpPr>
        <p:spPr>
          <a:xfrm>
            <a:off x="1417320" y="914400"/>
            <a:ext cx="3657600" cy="457200"/>
          </a:xfrm>
          <a:prstGeom prst="rect">
            <a:avLst/>
          </a:prstGeom>
          <a:noFill/>
          <a:ln/>
        </p:spPr>
        <p:txBody>
          <a:bodyPr wrap="square" rtlCol="0" anchor="ctr"/>
          <a:lstStyle/>
          <a:p>
            <a:pPr marL="0" indent="0" algn="ctr">
              <a:buNone/>
            </a:pPr>
            <a:r>
              <a:rPr lang="en-US" sz="900" b="1" dirty="0">
                <a:solidFill>
                  <a:srgbClr val="3B4FD8"/>
                </a:solidFill>
                <a:latin typeface="Calibri" pitchFamily="34" charset="0"/>
                <a:ea typeface="Calibri" pitchFamily="34" charset="-122"/>
                <a:cs typeface="Calibri" pitchFamily="34" charset="-120"/>
              </a:rPr>
              <a:t>SAME TIME</a:t>
            </a:r>
            <a:endParaRPr lang="en-US" sz="900" dirty="0"/>
          </a:p>
          <a:p>
            <a:pPr marL="0" indent="0" algn="ctr">
              <a:buNone/>
            </a:pPr>
            <a:r>
              <a:rPr lang="en-US" sz="900" b="1" dirty="0">
                <a:solidFill>
                  <a:srgbClr val="3B4FD8"/>
                </a:solidFill>
                <a:latin typeface="Calibri" pitchFamily="34" charset="0"/>
                <a:ea typeface="Calibri" pitchFamily="34" charset="-122"/>
                <a:cs typeface="Calibri" pitchFamily="34" charset="-120"/>
              </a:rPr>
              <a:t>(Synchronous)</a:t>
            </a:r>
            <a:endParaRPr lang="en-US" sz="900" dirty="0"/>
          </a:p>
        </p:txBody>
      </p:sp>
      <p:sp>
        <p:nvSpPr>
          <p:cNvPr id="7" name="Shape 5"/>
          <p:cNvSpPr/>
          <p:nvPr/>
        </p:nvSpPr>
        <p:spPr>
          <a:xfrm>
            <a:off x="5166360" y="914400"/>
            <a:ext cx="3657600" cy="457200"/>
          </a:xfrm>
          <a:prstGeom prst="rect">
            <a:avLst/>
          </a:prstGeom>
          <a:solidFill>
            <a:srgbClr val="EEF0FB"/>
          </a:solidFill>
          <a:ln w="6350">
            <a:solidFill>
              <a:srgbClr val="3B4FD8"/>
            </a:solidFill>
            <a:prstDash val="solid"/>
          </a:ln>
        </p:spPr>
      </p:sp>
      <p:sp>
        <p:nvSpPr>
          <p:cNvPr id="8" name="Text 6"/>
          <p:cNvSpPr/>
          <p:nvPr/>
        </p:nvSpPr>
        <p:spPr>
          <a:xfrm>
            <a:off x="5166360" y="914400"/>
            <a:ext cx="3657600" cy="457200"/>
          </a:xfrm>
          <a:prstGeom prst="rect">
            <a:avLst/>
          </a:prstGeom>
          <a:noFill/>
          <a:ln/>
        </p:spPr>
        <p:txBody>
          <a:bodyPr wrap="square" rtlCol="0" anchor="ctr"/>
          <a:lstStyle/>
          <a:p>
            <a:pPr marL="0" indent="0" algn="ctr">
              <a:buNone/>
            </a:pPr>
            <a:r>
              <a:rPr lang="en-US" sz="900" b="1" dirty="0">
                <a:solidFill>
                  <a:srgbClr val="3B4FD8"/>
                </a:solidFill>
                <a:latin typeface="Calibri" pitchFamily="34" charset="0"/>
                <a:ea typeface="Calibri" pitchFamily="34" charset="-122"/>
                <a:cs typeface="Calibri" pitchFamily="34" charset="-120"/>
              </a:rPr>
              <a:t>DIFFERENT TIME</a:t>
            </a:r>
            <a:endParaRPr lang="en-US" sz="900" dirty="0"/>
          </a:p>
          <a:p>
            <a:pPr marL="0" indent="0" algn="ctr">
              <a:buNone/>
            </a:pPr>
            <a:r>
              <a:rPr lang="en-US" sz="900" b="1" dirty="0">
                <a:solidFill>
                  <a:srgbClr val="3B4FD8"/>
                </a:solidFill>
                <a:latin typeface="Calibri" pitchFamily="34" charset="0"/>
                <a:ea typeface="Calibri" pitchFamily="34" charset="-122"/>
                <a:cs typeface="Calibri" pitchFamily="34" charset="-120"/>
              </a:rPr>
              <a:t>(Asynchronous)</a:t>
            </a:r>
            <a:endParaRPr lang="en-US" sz="900" dirty="0"/>
          </a:p>
        </p:txBody>
      </p:sp>
      <p:sp>
        <p:nvSpPr>
          <p:cNvPr id="9" name="Shape 7"/>
          <p:cNvSpPr/>
          <p:nvPr/>
        </p:nvSpPr>
        <p:spPr>
          <a:xfrm>
            <a:off x="274320" y="1417320"/>
            <a:ext cx="1097280" cy="1371600"/>
          </a:xfrm>
          <a:prstGeom prst="rect">
            <a:avLst/>
          </a:prstGeom>
          <a:solidFill>
            <a:srgbClr val="E0F4F8"/>
          </a:solidFill>
          <a:ln w="6350">
            <a:solidFill>
              <a:srgbClr val="0891B2"/>
            </a:solidFill>
            <a:prstDash val="solid"/>
          </a:ln>
        </p:spPr>
      </p:sp>
      <p:sp>
        <p:nvSpPr>
          <p:cNvPr id="10" name="Text 8"/>
          <p:cNvSpPr/>
          <p:nvPr/>
        </p:nvSpPr>
        <p:spPr>
          <a:xfrm>
            <a:off x="274320" y="1417320"/>
            <a:ext cx="1097280" cy="1371600"/>
          </a:xfrm>
          <a:prstGeom prst="rect">
            <a:avLst/>
          </a:prstGeom>
          <a:noFill/>
          <a:ln/>
        </p:spPr>
        <p:txBody>
          <a:bodyPr wrap="square" rtlCol="0" anchor="ctr"/>
          <a:lstStyle/>
          <a:p>
            <a:pPr marL="0" indent="0" algn="ctr">
              <a:buNone/>
            </a:pPr>
            <a:r>
              <a:rPr lang="en-US" sz="900" b="1" dirty="0">
                <a:solidFill>
                  <a:srgbClr val="0891B2"/>
                </a:solidFill>
                <a:latin typeface="Calibri" pitchFamily="34" charset="0"/>
                <a:ea typeface="Calibri" pitchFamily="34" charset="-122"/>
                <a:cs typeface="Calibri" pitchFamily="34" charset="-120"/>
              </a:rPr>
              <a:t>SAME</a:t>
            </a:r>
            <a:endParaRPr lang="en-US" sz="900" dirty="0"/>
          </a:p>
          <a:p>
            <a:pPr marL="0" indent="0" algn="ctr">
              <a:buNone/>
            </a:pPr>
            <a:r>
              <a:rPr lang="en-US" sz="900" b="1" dirty="0">
                <a:solidFill>
                  <a:srgbClr val="0891B2"/>
                </a:solidFill>
                <a:latin typeface="Calibri" pitchFamily="34" charset="0"/>
                <a:ea typeface="Calibri" pitchFamily="34" charset="-122"/>
                <a:cs typeface="Calibri" pitchFamily="34" charset="-120"/>
              </a:rPr>
              <a:t>PLACE</a:t>
            </a:r>
            <a:endParaRPr lang="en-US" sz="900" dirty="0"/>
          </a:p>
        </p:txBody>
      </p:sp>
      <p:sp>
        <p:nvSpPr>
          <p:cNvPr id="11" name="Shape 9"/>
          <p:cNvSpPr/>
          <p:nvPr/>
        </p:nvSpPr>
        <p:spPr>
          <a:xfrm>
            <a:off x="274320" y="2834640"/>
            <a:ext cx="1097280" cy="1371600"/>
          </a:xfrm>
          <a:prstGeom prst="rect">
            <a:avLst/>
          </a:prstGeom>
          <a:solidFill>
            <a:srgbClr val="E0F4F8"/>
          </a:solidFill>
          <a:ln w="6350">
            <a:solidFill>
              <a:srgbClr val="0891B2"/>
            </a:solidFill>
            <a:prstDash val="solid"/>
          </a:ln>
        </p:spPr>
      </p:sp>
      <p:sp>
        <p:nvSpPr>
          <p:cNvPr id="12" name="Text 10"/>
          <p:cNvSpPr/>
          <p:nvPr/>
        </p:nvSpPr>
        <p:spPr>
          <a:xfrm>
            <a:off x="274320" y="2834640"/>
            <a:ext cx="1097280" cy="1371600"/>
          </a:xfrm>
          <a:prstGeom prst="rect">
            <a:avLst/>
          </a:prstGeom>
          <a:noFill/>
          <a:ln/>
        </p:spPr>
        <p:txBody>
          <a:bodyPr wrap="square" rtlCol="0" anchor="ctr"/>
          <a:lstStyle/>
          <a:p>
            <a:pPr marL="0" indent="0" algn="ctr">
              <a:buNone/>
            </a:pPr>
            <a:r>
              <a:rPr lang="en-US" sz="900" b="1" dirty="0">
                <a:solidFill>
                  <a:srgbClr val="0891B2"/>
                </a:solidFill>
                <a:latin typeface="Calibri" pitchFamily="34" charset="0"/>
                <a:ea typeface="Calibri" pitchFamily="34" charset="-122"/>
                <a:cs typeface="Calibri" pitchFamily="34" charset="-120"/>
              </a:rPr>
              <a:t>DIFFERENT</a:t>
            </a:r>
            <a:endParaRPr lang="en-US" sz="900" dirty="0"/>
          </a:p>
          <a:p>
            <a:pPr marL="0" indent="0" algn="ctr">
              <a:buNone/>
            </a:pPr>
            <a:r>
              <a:rPr lang="en-US" sz="900" b="1" dirty="0">
                <a:solidFill>
                  <a:srgbClr val="0891B2"/>
                </a:solidFill>
                <a:latin typeface="Calibri" pitchFamily="34" charset="0"/>
                <a:ea typeface="Calibri" pitchFamily="34" charset="-122"/>
                <a:cs typeface="Calibri" pitchFamily="34" charset="-120"/>
              </a:rPr>
              <a:t>PLACE</a:t>
            </a:r>
            <a:endParaRPr lang="en-US" sz="900" dirty="0"/>
          </a:p>
        </p:txBody>
      </p:sp>
      <p:sp>
        <p:nvSpPr>
          <p:cNvPr id="13" name="Shape 11"/>
          <p:cNvSpPr/>
          <p:nvPr/>
        </p:nvSpPr>
        <p:spPr>
          <a:xfrm>
            <a:off x="1417320" y="1417320"/>
            <a:ext cx="3657600" cy="137160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4" name="Text 12"/>
          <p:cNvSpPr/>
          <p:nvPr/>
        </p:nvSpPr>
        <p:spPr>
          <a:xfrm>
            <a:off x="1527048" y="1508760"/>
            <a:ext cx="3429000" cy="237744"/>
          </a:xfrm>
          <a:prstGeom prst="rect">
            <a:avLst/>
          </a:prstGeom>
          <a:noFill/>
          <a:ln/>
        </p:spPr>
        <p:txBody>
          <a:bodyPr wrap="square" lIns="0" tIns="0" rIns="0" bIns="0" rtlCol="0" anchor="ctr"/>
          <a:lstStyle/>
          <a:p>
            <a:pPr marL="0" indent="0">
              <a:buNone/>
            </a:pPr>
            <a:r>
              <a:rPr lang="en-US" sz="1200" b="1" dirty="0">
                <a:solidFill>
                  <a:srgbClr val="0891B2"/>
                </a:solidFill>
                <a:latin typeface="Arial Black" pitchFamily="34" charset="0"/>
                <a:ea typeface="Arial Black" pitchFamily="34" charset="-122"/>
                <a:cs typeface="Arial Black" pitchFamily="34" charset="-120"/>
              </a:rPr>
              <a:t>Classroom Lecture</a:t>
            </a:r>
            <a:endParaRPr lang="en-US" sz="1200" dirty="0"/>
          </a:p>
        </p:txBody>
      </p:sp>
      <p:sp>
        <p:nvSpPr>
          <p:cNvPr id="15" name="Text 13"/>
          <p:cNvSpPr/>
          <p:nvPr/>
        </p:nvSpPr>
        <p:spPr>
          <a:xfrm>
            <a:off x="1527048" y="1764792"/>
            <a:ext cx="3429000" cy="96012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Everyone in the same room at the same time. A student asks a question , teacher answers instantly. Feedback is immediate, communication is rich, everyone is fully present.</a:t>
            </a:r>
            <a:endParaRPr lang="en-US" sz="1050" dirty="0"/>
          </a:p>
        </p:txBody>
      </p:sp>
      <p:sp>
        <p:nvSpPr>
          <p:cNvPr id="16" name="Shape 14"/>
          <p:cNvSpPr/>
          <p:nvPr/>
        </p:nvSpPr>
        <p:spPr>
          <a:xfrm>
            <a:off x="5166360" y="1417320"/>
            <a:ext cx="3657600" cy="137160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7" name="Text 15"/>
          <p:cNvSpPr/>
          <p:nvPr/>
        </p:nvSpPr>
        <p:spPr>
          <a:xfrm>
            <a:off x="5276088" y="1508760"/>
            <a:ext cx="3429000" cy="237744"/>
          </a:xfrm>
          <a:prstGeom prst="rect">
            <a:avLst/>
          </a:prstGeom>
          <a:noFill/>
          <a:ln/>
        </p:spPr>
        <p:txBody>
          <a:bodyPr wrap="square" lIns="0" tIns="0" rIns="0" bIns="0" rtlCol="0" anchor="ctr"/>
          <a:lstStyle/>
          <a:p>
            <a:pPr marL="0" indent="0">
              <a:buNone/>
            </a:pPr>
            <a:r>
              <a:rPr lang="en-US" sz="1200" b="1" dirty="0">
                <a:solidFill>
                  <a:srgbClr val="0891B2"/>
                </a:solidFill>
                <a:latin typeface="Arial Black" pitchFamily="34" charset="0"/>
                <a:ea typeface="Arial Black" pitchFamily="34" charset="-122"/>
                <a:cs typeface="Arial Black" pitchFamily="34" charset="-120"/>
              </a:rPr>
              <a:t>Shared Gym</a:t>
            </a:r>
            <a:endParaRPr lang="en-US" sz="1200" dirty="0"/>
          </a:p>
        </p:txBody>
      </p:sp>
      <p:sp>
        <p:nvSpPr>
          <p:cNvPr id="18" name="Text 16"/>
          <p:cNvSpPr/>
          <p:nvPr/>
        </p:nvSpPr>
        <p:spPr>
          <a:xfrm>
            <a:off x="5276088" y="1764792"/>
            <a:ext cx="3429000" cy="96012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Ahmed goes at 6am, you at 12pm, Sara at 7pm. Same gym, same equipment , but you never see each other. Same place, never the same moment.</a:t>
            </a:r>
            <a:endParaRPr lang="en-US" sz="1050" dirty="0"/>
          </a:p>
        </p:txBody>
      </p:sp>
      <p:sp>
        <p:nvSpPr>
          <p:cNvPr id="19" name="Shape 17"/>
          <p:cNvSpPr/>
          <p:nvPr/>
        </p:nvSpPr>
        <p:spPr>
          <a:xfrm>
            <a:off x="1417320" y="2834640"/>
            <a:ext cx="3657600" cy="137160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20" name="Text 18"/>
          <p:cNvSpPr/>
          <p:nvPr/>
        </p:nvSpPr>
        <p:spPr>
          <a:xfrm>
            <a:off x="1527048" y="2926080"/>
            <a:ext cx="3429000" cy="237744"/>
          </a:xfrm>
          <a:prstGeom prst="rect">
            <a:avLst/>
          </a:prstGeom>
          <a:noFill/>
          <a:ln/>
        </p:spPr>
        <p:txBody>
          <a:bodyPr wrap="square" lIns="0" tIns="0" rIns="0" bIns="0" rtlCol="0" anchor="ctr"/>
          <a:lstStyle/>
          <a:p>
            <a:pPr marL="0" indent="0">
              <a:buNone/>
            </a:pPr>
            <a:r>
              <a:rPr lang="en-US" sz="1200" b="1" dirty="0">
                <a:solidFill>
                  <a:srgbClr val="0891B2"/>
                </a:solidFill>
                <a:latin typeface="Arial Black" pitchFamily="34" charset="0"/>
                <a:ea typeface="Arial Black" pitchFamily="34" charset="-122"/>
                <a:cs typeface="Arial Black" pitchFamily="34" charset="-120"/>
              </a:rPr>
              <a:t>Zoom Study Session</a:t>
            </a:r>
            <a:endParaRPr lang="en-US" sz="1200" dirty="0"/>
          </a:p>
        </p:txBody>
      </p:sp>
      <p:sp>
        <p:nvSpPr>
          <p:cNvPr id="21" name="Text 19"/>
          <p:cNvSpPr/>
          <p:nvPr/>
        </p:nvSpPr>
        <p:spPr>
          <a:xfrm>
            <a:off x="1527048" y="3182112"/>
            <a:ext cx="3429000" cy="96012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Exam season , Ahmed at home, Sara in a café, you in your dorm. All online at exactly 2pm, sharing screens, watching each other's cursors move live.</a:t>
            </a:r>
            <a:endParaRPr lang="en-US" sz="1050" dirty="0"/>
          </a:p>
        </p:txBody>
      </p:sp>
      <p:sp>
        <p:nvSpPr>
          <p:cNvPr id="22" name="Shape 20"/>
          <p:cNvSpPr/>
          <p:nvPr/>
        </p:nvSpPr>
        <p:spPr>
          <a:xfrm>
            <a:off x="5166360" y="2834640"/>
            <a:ext cx="3657600" cy="1371600"/>
          </a:xfrm>
          <a:prstGeom prst="rect">
            <a:avLst/>
          </a:prstGeom>
          <a:solidFill>
            <a:srgbClr val="EEF0FB"/>
          </a:solidFill>
          <a:ln w="12700">
            <a:solidFill>
              <a:srgbClr val="3B4FD8"/>
            </a:solidFill>
            <a:prstDash val="solid"/>
          </a:ln>
          <a:effectLst>
            <a:outerShdw blurRad="101600" dist="25400" dir="8100000" algn="bl" rotWithShape="0">
              <a:srgbClr val="3B4FD8">
                <a:alpha val="8000"/>
              </a:srgbClr>
            </a:outerShdw>
          </a:effectLst>
        </p:spPr>
      </p:sp>
      <p:sp>
        <p:nvSpPr>
          <p:cNvPr id="23" name="Text 21"/>
          <p:cNvSpPr/>
          <p:nvPr/>
        </p:nvSpPr>
        <p:spPr>
          <a:xfrm>
            <a:off x="5276088" y="2926080"/>
            <a:ext cx="3429000" cy="237744"/>
          </a:xfrm>
          <a:prstGeom prst="rect">
            <a:avLst/>
          </a:prstGeom>
          <a:noFill/>
          <a:ln/>
        </p:spPr>
        <p:txBody>
          <a:bodyPr wrap="square" lIns="0" tIns="0" rIns="0" bIns="0" rtlCol="0" anchor="ctr"/>
          <a:lstStyle/>
          <a:p>
            <a:pPr marL="0" indent="0">
              <a:buNone/>
            </a:pPr>
            <a:r>
              <a:rPr lang="en-US" sz="1200" b="1" dirty="0">
                <a:solidFill>
                  <a:srgbClr val="3B4FD8"/>
                </a:solidFill>
                <a:latin typeface="Arial Black" pitchFamily="34" charset="0"/>
                <a:ea typeface="Arial Black" pitchFamily="34" charset="-122"/>
                <a:cs typeface="Arial Black" pitchFamily="34" charset="-120"/>
              </a:rPr>
              <a:t>Texting a Friend</a:t>
            </a:r>
            <a:endParaRPr lang="en-US" sz="1200" dirty="0"/>
          </a:p>
        </p:txBody>
      </p:sp>
      <p:sp>
        <p:nvSpPr>
          <p:cNvPr id="24" name="Text 22"/>
          <p:cNvSpPr/>
          <p:nvPr/>
        </p:nvSpPr>
        <p:spPr>
          <a:xfrm>
            <a:off x="5276088" y="3182112"/>
            <a:ext cx="3429000" cy="96012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He texts you at 2pm from home. You reply at 6pm from campus. He responds at 8pm from dinner. Different places, different times. ← Most teams live here.</a:t>
            </a:r>
            <a:endParaRPr lang="en-US" sz="1050" dirty="0"/>
          </a:p>
        </p:txBody>
      </p:sp>
      <p:sp>
        <p:nvSpPr>
          <p:cNvPr id="25" name="Shape 23"/>
          <p:cNvSpPr/>
          <p:nvPr/>
        </p:nvSpPr>
        <p:spPr>
          <a:xfrm>
            <a:off x="274320" y="4315968"/>
            <a:ext cx="8595360" cy="658368"/>
          </a:xfrm>
          <a:prstGeom prst="rect">
            <a:avLst/>
          </a:prstGeom>
          <a:solidFill>
            <a:srgbClr val="EEF0FB"/>
          </a:solidFill>
          <a:ln w="6350">
            <a:solidFill>
              <a:srgbClr val="3B4FD8"/>
            </a:solidFill>
            <a:prstDash val="solid"/>
          </a:ln>
          <a:effectLst>
            <a:outerShdw blurRad="101600" dist="25400" dir="8100000" algn="bl" rotWithShape="0">
              <a:srgbClr val="3B4FD8">
                <a:alpha val="8000"/>
              </a:srgbClr>
            </a:outerShdw>
          </a:effectLst>
        </p:spPr>
      </p:sp>
      <p:sp>
        <p:nvSpPr>
          <p:cNvPr id="26" name="Text 24"/>
          <p:cNvSpPr/>
          <p:nvPr/>
        </p:nvSpPr>
        <p:spPr>
          <a:xfrm>
            <a:off x="411480" y="4352544"/>
            <a:ext cx="8321040" cy="58521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Before 2020, most teams preferred real-time meetings. COVID-19 forced the entire world into the different-place/different-time cell overnight. Each cell needs a different design approach, understanding where your users live in this table is the starting point of designing any collaboration system.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502920" y="256032"/>
            <a:ext cx="228600" cy="36576"/>
          </a:xfrm>
          <a:prstGeom prst="rect">
            <a:avLst/>
          </a:prstGeom>
          <a:solidFill>
            <a:srgbClr val="3B4FD8"/>
          </a:solidFill>
          <a:ln w="12700">
            <a:solidFill>
              <a:srgbClr val="3B4FD8"/>
            </a:solidFill>
            <a:prstDash val="solid"/>
          </a:ln>
        </p:spPr>
      </p:sp>
      <p:sp>
        <p:nvSpPr>
          <p:cNvPr id="3" name="Text 1"/>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REAL-WORLD IMPACT</a:t>
            </a:r>
            <a:endParaRPr lang="en-US" sz="900" dirty="0"/>
          </a:p>
        </p:txBody>
      </p:sp>
      <p:sp>
        <p:nvSpPr>
          <p:cNvPr id="4" name="Text 2"/>
          <p:cNvSpPr/>
          <p:nvPr/>
        </p:nvSpPr>
        <p:spPr>
          <a:xfrm>
            <a:off x="274320" y="493776"/>
            <a:ext cx="8229600" cy="457200"/>
          </a:xfrm>
          <a:prstGeom prst="rect">
            <a:avLst/>
          </a:prstGeom>
          <a:noFill/>
          <a:ln/>
        </p:spPr>
        <p:txBody>
          <a:bodyPr wrap="square" lIns="0" tIns="0" rIns="0" bIns="0" rtlCol="0" anchor="ctr"/>
          <a:lstStyle/>
          <a:p>
            <a:pPr marL="0" indent="0" algn="l">
              <a:buNone/>
            </a:pPr>
            <a:r>
              <a:rPr lang="en-US" sz="2800" b="1" dirty="0">
                <a:solidFill>
                  <a:srgbClr val="0F172A"/>
                </a:solidFill>
                <a:latin typeface="Arial Black" pitchFamily="34" charset="0"/>
                <a:ea typeface="Arial Black" pitchFamily="34" charset="-122"/>
                <a:cs typeface="Arial Black" pitchFamily="34" charset="-120"/>
              </a:rPr>
              <a:t>Platforms That </a:t>
            </a:r>
            <a:endParaRPr lang="en-US" sz="2800" dirty="0"/>
          </a:p>
        </p:txBody>
      </p:sp>
      <p:sp>
        <p:nvSpPr>
          <p:cNvPr id="5" name="Text 3"/>
          <p:cNvSpPr/>
          <p:nvPr/>
        </p:nvSpPr>
        <p:spPr>
          <a:xfrm>
            <a:off x="3243012" y="475488"/>
            <a:ext cx="6400800" cy="457200"/>
          </a:xfrm>
          <a:prstGeom prst="rect">
            <a:avLst/>
          </a:prstGeom>
          <a:noFill/>
          <a:ln/>
        </p:spPr>
        <p:txBody>
          <a:bodyPr wrap="square" lIns="0" tIns="0" rIns="0" bIns="0" rtlCol="0" anchor="ctr"/>
          <a:lstStyle/>
          <a:p>
            <a:pPr marL="0" indent="0" algn="l">
              <a:buNone/>
            </a:pPr>
            <a:r>
              <a:rPr lang="en-US" sz="2800" b="1" dirty="0">
                <a:solidFill>
                  <a:srgbClr val="0891B2"/>
                </a:solidFill>
                <a:latin typeface="Arial Black" pitchFamily="34" charset="0"/>
                <a:ea typeface="Arial Black" pitchFamily="34" charset="-122"/>
                <a:cs typeface="Arial Black" pitchFamily="34" charset="-120"/>
              </a:rPr>
              <a:t>Changed How We Work</a:t>
            </a:r>
            <a:endParaRPr lang="en-US" sz="2800" dirty="0"/>
          </a:p>
        </p:txBody>
      </p:sp>
      <p:sp>
        <p:nvSpPr>
          <p:cNvPr id="6" name="Shape 4"/>
          <p:cNvSpPr/>
          <p:nvPr/>
        </p:nvSpPr>
        <p:spPr>
          <a:xfrm>
            <a:off x="274320" y="932688"/>
            <a:ext cx="64008" cy="1234440"/>
          </a:xfrm>
          <a:prstGeom prst="rect">
            <a:avLst/>
          </a:prstGeom>
          <a:solidFill>
            <a:srgbClr val="3B4FD8"/>
          </a:solidFill>
          <a:ln w="12700">
            <a:solidFill>
              <a:srgbClr val="3B4FD8"/>
            </a:solidFill>
            <a:prstDash val="solid"/>
          </a:ln>
        </p:spPr>
      </p:sp>
      <p:sp>
        <p:nvSpPr>
          <p:cNvPr id="7" name="Shape 5"/>
          <p:cNvSpPr/>
          <p:nvPr/>
        </p:nvSpPr>
        <p:spPr>
          <a:xfrm>
            <a:off x="338328" y="969264"/>
            <a:ext cx="8531352" cy="1197864"/>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txBody>
          <a:bodyPr/>
          <a:lstStyle/>
          <a:p>
            <a:endParaRPr lang="en-PK" dirty="0"/>
          </a:p>
        </p:txBody>
      </p:sp>
      <p:sp>
        <p:nvSpPr>
          <p:cNvPr id="8" name="Text 6"/>
          <p:cNvSpPr/>
          <p:nvPr/>
        </p:nvSpPr>
        <p:spPr>
          <a:xfrm>
            <a:off x="502920" y="1069848"/>
            <a:ext cx="3200400" cy="256032"/>
          </a:xfrm>
          <a:prstGeom prst="rect">
            <a:avLst/>
          </a:prstGeom>
          <a:noFill/>
          <a:ln/>
        </p:spPr>
        <p:txBody>
          <a:bodyPr wrap="square" lIns="0" tIns="0" rIns="0" bIns="0" rtlCol="0" anchor="ctr"/>
          <a:lstStyle/>
          <a:p>
            <a:pPr marL="0" indent="0">
              <a:buNone/>
            </a:pPr>
            <a:r>
              <a:rPr lang="en-US" sz="1600" b="1" dirty="0">
                <a:solidFill>
                  <a:srgbClr val="3B4FD8"/>
                </a:solidFill>
                <a:latin typeface="Arial Black" pitchFamily="34" charset="0"/>
                <a:ea typeface="Arial Black" pitchFamily="34" charset="-122"/>
                <a:cs typeface="Arial Black" pitchFamily="34" charset="-120"/>
              </a:rPr>
              <a:t>Wikipedia</a:t>
            </a:r>
            <a:endParaRPr lang="en-US" sz="1600" dirty="0"/>
          </a:p>
        </p:txBody>
      </p:sp>
      <p:sp>
        <p:nvSpPr>
          <p:cNvPr id="9" name="Text 7"/>
          <p:cNvSpPr/>
          <p:nvPr/>
        </p:nvSpPr>
        <p:spPr>
          <a:xfrm>
            <a:off x="3840480" y="1042416"/>
            <a:ext cx="4846320" cy="201168"/>
          </a:xfrm>
          <a:prstGeom prst="rect">
            <a:avLst/>
          </a:prstGeom>
          <a:noFill/>
          <a:ln/>
        </p:spPr>
        <p:txBody>
          <a:bodyPr wrap="square" rtlCol="0" anchor="ctr"/>
          <a:lstStyle/>
          <a:p>
            <a:pPr marL="0" indent="0">
              <a:buNone/>
            </a:pPr>
            <a:r>
              <a:rPr lang="en-US" sz="1000" b="1" kern="0" spc="100" dirty="0">
                <a:solidFill>
                  <a:srgbClr val="3B4FD8"/>
                </a:solidFill>
                <a:latin typeface="Calibri" pitchFamily="34" charset="0"/>
                <a:ea typeface="Calibri" pitchFamily="34" charset="-122"/>
                <a:cs typeface="Calibri" pitchFamily="34" charset="-120"/>
              </a:rPr>
              <a:t>MILLIONS OF ARTICLES · HUNDREDS OF LANGUAGES</a:t>
            </a:r>
            <a:endParaRPr lang="en-US" sz="1000" dirty="0"/>
          </a:p>
        </p:txBody>
      </p:sp>
      <p:sp>
        <p:nvSpPr>
          <p:cNvPr id="10" name="Text 8"/>
          <p:cNvSpPr/>
          <p:nvPr/>
        </p:nvSpPr>
        <p:spPr>
          <a:xfrm>
            <a:off x="502920" y="1316736"/>
            <a:ext cx="8321040" cy="7772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Wikipedia is not just a website, it is a system where people and technology work together. Every article has a Talk Page for debate and a Revision History. Experienced users become moderators. Automated bots detect vandalism. Wikipedia proves millions of strangers can build reliable knowledge when strong governance systems exist.</a:t>
            </a:r>
            <a:endParaRPr lang="en-US" sz="1100" dirty="0"/>
          </a:p>
        </p:txBody>
      </p:sp>
      <p:sp>
        <p:nvSpPr>
          <p:cNvPr id="11" name="Shape 9"/>
          <p:cNvSpPr/>
          <p:nvPr/>
        </p:nvSpPr>
        <p:spPr>
          <a:xfrm>
            <a:off x="274320" y="2304288"/>
            <a:ext cx="64008" cy="1234440"/>
          </a:xfrm>
          <a:prstGeom prst="rect">
            <a:avLst/>
          </a:prstGeom>
          <a:solidFill>
            <a:srgbClr val="7C3AED"/>
          </a:solidFill>
          <a:ln w="12700">
            <a:solidFill>
              <a:srgbClr val="7C3AED"/>
            </a:solidFill>
            <a:prstDash val="solid"/>
          </a:ln>
        </p:spPr>
      </p:sp>
      <p:sp>
        <p:nvSpPr>
          <p:cNvPr id="12" name="Shape 10"/>
          <p:cNvSpPr/>
          <p:nvPr/>
        </p:nvSpPr>
        <p:spPr>
          <a:xfrm>
            <a:off x="338328" y="2304288"/>
            <a:ext cx="8531352" cy="123444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3" name="Text 11"/>
          <p:cNvSpPr/>
          <p:nvPr/>
        </p:nvSpPr>
        <p:spPr>
          <a:xfrm>
            <a:off x="502920" y="2377440"/>
            <a:ext cx="3200400" cy="256032"/>
          </a:xfrm>
          <a:prstGeom prst="rect">
            <a:avLst/>
          </a:prstGeom>
          <a:noFill/>
          <a:ln/>
        </p:spPr>
        <p:txBody>
          <a:bodyPr wrap="square" lIns="0" tIns="0" rIns="0" bIns="0" rtlCol="0" anchor="ctr"/>
          <a:lstStyle/>
          <a:p>
            <a:pPr marL="0" indent="0">
              <a:buNone/>
            </a:pPr>
            <a:r>
              <a:rPr lang="en-US" sz="1600" b="1" dirty="0">
                <a:solidFill>
                  <a:srgbClr val="7C3AED"/>
                </a:solidFill>
                <a:latin typeface="Arial Black" pitchFamily="34" charset="0"/>
                <a:ea typeface="Arial Black" pitchFamily="34" charset="-122"/>
                <a:cs typeface="Arial Black" pitchFamily="34" charset="-120"/>
              </a:rPr>
              <a:t>GitHub</a:t>
            </a:r>
            <a:endParaRPr lang="en-US" sz="1600" dirty="0"/>
          </a:p>
        </p:txBody>
      </p:sp>
      <p:sp>
        <p:nvSpPr>
          <p:cNvPr id="14" name="Text 12"/>
          <p:cNvSpPr/>
          <p:nvPr/>
        </p:nvSpPr>
        <p:spPr>
          <a:xfrm>
            <a:off x="3840480" y="2414016"/>
            <a:ext cx="4846320" cy="201168"/>
          </a:xfrm>
          <a:prstGeom prst="rect">
            <a:avLst/>
          </a:prstGeom>
          <a:noFill/>
          <a:ln/>
        </p:spPr>
        <p:txBody>
          <a:bodyPr wrap="square" rtlCol="0" anchor="ctr"/>
          <a:lstStyle/>
          <a:p>
            <a:pPr marL="0" indent="0">
              <a:buNone/>
            </a:pPr>
            <a:r>
              <a:rPr lang="en-US" sz="1000" b="1" kern="0" spc="100" dirty="0">
                <a:solidFill>
                  <a:srgbClr val="7C3AED"/>
                </a:solidFill>
                <a:latin typeface="Calibri" pitchFamily="34" charset="0"/>
                <a:ea typeface="Calibri" pitchFamily="34" charset="-122"/>
                <a:cs typeface="Calibri" pitchFamily="34" charset="-120"/>
              </a:rPr>
              <a:t>200M+ REPOS · 100M+ DEVELOPERS</a:t>
            </a:r>
            <a:endParaRPr lang="en-US" sz="1000" dirty="0"/>
          </a:p>
        </p:txBody>
      </p:sp>
      <p:sp>
        <p:nvSpPr>
          <p:cNvPr id="15" name="Text 13"/>
          <p:cNvSpPr/>
          <p:nvPr/>
        </p:nvSpPr>
        <p:spPr>
          <a:xfrm>
            <a:off x="502920" y="2688336"/>
            <a:ext cx="8321040" cy="7772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Millions of developers build software together across different countries without ever meeting. The Pull Request system lets developers submit proposals instead of changing the main project directly. Others review, suggest improvements, then approve or reject. This improves quality and helps team members learn from each other.</a:t>
            </a:r>
            <a:endParaRPr lang="en-US" sz="1100" dirty="0"/>
          </a:p>
        </p:txBody>
      </p:sp>
      <p:sp>
        <p:nvSpPr>
          <p:cNvPr id="16" name="Shape 14"/>
          <p:cNvSpPr/>
          <p:nvPr/>
        </p:nvSpPr>
        <p:spPr>
          <a:xfrm>
            <a:off x="274320" y="3675888"/>
            <a:ext cx="64008" cy="1234440"/>
          </a:xfrm>
          <a:prstGeom prst="rect">
            <a:avLst/>
          </a:prstGeom>
          <a:solidFill>
            <a:srgbClr val="0891B2"/>
          </a:solidFill>
          <a:ln w="12700">
            <a:solidFill>
              <a:srgbClr val="0891B2"/>
            </a:solidFill>
            <a:prstDash val="solid"/>
          </a:ln>
        </p:spPr>
      </p:sp>
      <p:sp>
        <p:nvSpPr>
          <p:cNvPr id="17" name="Shape 15"/>
          <p:cNvSpPr/>
          <p:nvPr/>
        </p:nvSpPr>
        <p:spPr>
          <a:xfrm>
            <a:off x="338328" y="3675888"/>
            <a:ext cx="8531352" cy="123444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8" name="Text 16"/>
          <p:cNvSpPr/>
          <p:nvPr/>
        </p:nvSpPr>
        <p:spPr>
          <a:xfrm>
            <a:off x="502920" y="3749040"/>
            <a:ext cx="3200400" cy="256032"/>
          </a:xfrm>
          <a:prstGeom prst="rect">
            <a:avLst/>
          </a:prstGeom>
          <a:noFill/>
          <a:ln/>
        </p:spPr>
        <p:txBody>
          <a:bodyPr wrap="square" lIns="0" tIns="0" rIns="0" bIns="0" rtlCol="0" anchor="ctr"/>
          <a:lstStyle/>
          <a:p>
            <a:pPr marL="0" indent="0">
              <a:buNone/>
            </a:pPr>
            <a:r>
              <a:rPr lang="en-US" sz="1600" b="1" dirty="0">
                <a:solidFill>
                  <a:srgbClr val="0891B2"/>
                </a:solidFill>
                <a:latin typeface="Arial Black" pitchFamily="34" charset="0"/>
                <a:ea typeface="Arial Black" pitchFamily="34" charset="-122"/>
                <a:cs typeface="Arial Black" pitchFamily="34" charset="-120"/>
              </a:rPr>
              <a:t>Google Docs</a:t>
            </a:r>
            <a:endParaRPr lang="en-US" sz="1600" dirty="0"/>
          </a:p>
        </p:txBody>
      </p:sp>
      <p:sp>
        <p:nvSpPr>
          <p:cNvPr id="19" name="Text 17"/>
          <p:cNvSpPr/>
          <p:nvPr/>
        </p:nvSpPr>
        <p:spPr>
          <a:xfrm>
            <a:off x="3840480" y="3785616"/>
            <a:ext cx="4846320" cy="201168"/>
          </a:xfrm>
          <a:prstGeom prst="rect">
            <a:avLst/>
          </a:prstGeom>
          <a:noFill/>
          <a:ln/>
        </p:spPr>
        <p:txBody>
          <a:bodyPr wrap="square" rtlCol="0" anchor="ctr"/>
          <a:lstStyle/>
          <a:p>
            <a:pPr marL="0" indent="0">
              <a:buNone/>
            </a:pPr>
            <a:r>
              <a:rPr lang="en-US" sz="1000" b="1" kern="0" spc="100" dirty="0">
                <a:solidFill>
                  <a:srgbClr val="0891B2"/>
                </a:solidFill>
                <a:latin typeface="Calibri" pitchFamily="34" charset="0"/>
                <a:ea typeface="Calibri" pitchFamily="34" charset="-122"/>
                <a:cs typeface="Calibri" pitchFamily="34" charset="-120"/>
              </a:rPr>
              <a:t>1 BILLION+ DAILY USERS</a:t>
            </a:r>
            <a:endParaRPr lang="en-US" sz="1000" dirty="0"/>
          </a:p>
        </p:txBody>
      </p:sp>
      <p:sp>
        <p:nvSpPr>
          <p:cNvPr id="20" name="Text 18"/>
          <p:cNvSpPr/>
          <p:nvPr/>
        </p:nvSpPr>
        <p:spPr>
          <a:xfrm>
            <a:off x="502920" y="4059936"/>
            <a:ext cx="8321040" cy="7772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When two people type in the same document simultaneously, the system automatically manages both edits without deleting anyone's work. It also shows live cursors called workspace awareness, meaning people stay aware of what others are doing. Good collaboration technology feels simple even when the underlying system is highly complex.</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502920" y="256032"/>
            <a:ext cx="228600" cy="36576"/>
          </a:xfrm>
          <a:prstGeom prst="rect">
            <a:avLst/>
          </a:prstGeom>
          <a:solidFill>
            <a:srgbClr val="3B4FD8"/>
          </a:solidFill>
          <a:ln w="12700">
            <a:solidFill>
              <a:srgbClr val="3B4FD8"/>
            </a:solidFill>
            <a:prstDash val="solid"/>
          </a:ln>
        </p:spPr>
      </p:sp>
      <p:sp>
        <p:nvSpPr>
          <p:cNvPr id="3" name="Text 1"/>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CRITICAL CHALLENGES</a:t>
            </a:r>
            <a:endParaRPr lang="en-US" sz="900" dirty="0"/>
          </a:p>
        </p:txBody>
      </p:sp>
      <p:sp>
        <p:nvSpPr>
          <p:cNvPr id="4" name="Text 2"/>
          <p:cNvSpPr/>
          <p:nvPr/>
        </p:nvSpPr>
        <p:spPr>
          <a:xfrm>
            <a:off x="306324" y="493731"/>
            <a:ext cx="8229600" cy="457200"/>
          </a:xfrm>
          <a:prstGeom prst="rect">
            <a:avLst/>
          </a:prstGeom>
          <a:noFill/>
          <a:ln/>
        </p:spPr>
        <p:txBody>
          <a:bodyPr wrap="square" lIns="0" tIns="0" rIns="0" bIns="0" rtlCol="0" anchor="ctr"/>
          <a:lstStyle/>
          <a:p>
            <a:pPr marL="0" indent="0" algn="l">
              <a:buNone/>
            </a:pPr>
            <a:r>
              <a:rPr lang="en-US" sz="2800" b="1" dirty="0">
                <a:solidFill>
                  <a:srgbClr val="0F172A"/>
                </a:solidFill>
                <a:latin typeface="Arial Black" pitchFamily="34" charset="0"/>
                <a:ea typeface="Arial Black" pitchFamily="34" charset="-122"/>
                <a:cs typeface="Arial Black" pitchFamily="34" charset="-120"/>
              </a:rPr>
              <a:t>These Systems Are Not </a:t>
            </a:r>
            <a:endParaRPr lang="en-US" sz="2800" dirty="0"/>
          </a:p>
        </p:txBody>
      </p:sp>
      <p:sp>
        <p:nvSpPr>
          <p:cNvPr id="5" name="Text 3"/>
          <p:cNvSpPr/>
          <p:nvPr/>
        </p:nvSpPr>
        <p:spPr>
          <a:xfrm>
            <a:off x="5024628" y="489248"/>
            <a:ext cx="3657600" cy="457200"/>
          </a:xfrm>
          <a:prstGeom prst="rect">
            <a:avLst/>
          </a:prstGeom>
          <a:noFill/>
          <a:ln/>
        </p:spPr>
        <p:txBody>
          <a:bodyPr wrap="square" lIns="0" tIns="0" rIns="0" bIns="0" rtlCol="0" anchor="ctr"/>
          <a:lstStyle/>
          <a:p>
            <a:pPr marL="0" indent="0" algn="l">
              <a:buNone/>
            </a:pPr>
            <a:r>
              <a:rPr lang="en-US" sz="2800" b="1" dirty="0">
                <a:solidFill>
                  <a:srgbClr val="E11D48"/>
                </a:solidFill>
                <a:latin typeface="Arial Black" pitchFamily="34" charset="0"/>
                <a:ea typeface="Arial Black" pitchFamily="34" charset="-122"/>
                <a:cs typeface="Arial Black" pitchFamily="34" charset="-120"/>
              </a:rPr>
              <a:t>Neutral</a:t>
            </a:r>
            <a:endParaRPr lang="en-US" sz="2800" dirty="0"/>
          </a:p>
        </p:txBody>
      </p:sp>
      <p:sp>
        <p:nvSpPr>
          <p:cNvPr id="6" name="Text 4"/>
          <p:cNvSpPr/>
          <p:nvPr/>
        </p:nvSpPr>
        <p:spPr>
          <a:xfrm>
            <a:off x="274320" y="880665"/>
            <a:ext cx="8229600" cy="2743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These systems sound positive — but they also create serious problems that must be addressed honestly.</a:t>
            </a:r>
            <a:endParaRPr lang="en-US" sz="1200" dirty="0"/>
          </a:p>
        </p:txBody>
      </p:sp>
      <p:sp>
        <p:nvSpPr>
          <p:cNvPr id="7" name="Shape 5"/>
          <p:cNvSpPr/>
          <p:nvPr/>
        </p:nvSpPr>
        <p:spPr>
          <a:xfrm>
            <a:off x="274320" y="1170432"/>
            <a:ext cx="64008" cy="1463040"/>
          </a:xfrm>
          <a:prstGeom prst="rect">
            <a:avLst/>
          </a:prstGeom>
          <a:solidFill>
            <a:srgbClr val="E11D48"/>
          </a:solidFill>
          <a:ln w="12700">
            <a:solidFill>
              <a:srgbClr val="E11D48"/>
            </a:solidFill>
            <a:prstDash val="solid"/>
          </a:ln>
        </p:spPr>
      </p:sp>
      <p:sp>
        <p:nvSpPr>
          <p:cNvPr id="8" name="Shape 6"/>
          <p:cNvSpPr/>
          <p:nvPr/>
        </p:nvSpPr>
        <p:spPr>
          <a:xfrm>
            <a:off x="338328" y="1170432"/>
            <a:ext cx="4160520" cy="1463040"/>
          </a:xfrm>
          <a:prstGeom prst="rect">
            <a:avLst/>
          </a:prstGeom>
          <a:solidFill>
            <a:srgbClr val="FFFFFF"/>
          </a:solidFill>
          <a:ln w="6350">
            <a:solidFill>
              <a:srgbClr val="FFD0DA"/>
            </a:solidFill>
            <a:prstDash val="solid"/>
          </a:ln>
          <a:effectLst>
            <a:outerShdw blurRad="101600" dist="25400" dir="8100000" algn="bl" rotWithShape="0">
              <a:srgbClr val="3B4FD8">
                <a:alpha val="8000"/>
              </a:srgbClr>
            </a:outerShdw>
          </a:effectLst>
        </p:spPr>
      </p:sp>
      <p:sp>
        <p:nvSpPr>
          <p:cNvPr id="9" name="Text 7"/>
          <p:cNvSpPr/>
          <p:nvPr/>
        </p:nvSpPr>
        <p:spPr>
          <a:xfrm>
            <a:off x="457200" y="1261872"/>
            <a:ext cx="3931920" cy="274320"/>
          </a:xfrm>
          <a:prstGeom prst="rect">
            <a:avLst/>
          </a:prstGeom>
          <a:noFill/>
          <a:ln/>
        </p:spPr>
        <p:txBody>
          <a:bodyPr wrap="square" lIns="0" tIns="0" rIns="0" bIns="0" rtlCol="0" anchor="ctr"/>
          <a:lstStyle/>
          <a:p>
            <a:pPr marL="0" indent="0">
              <a:buNone/>
            </a:pPr>
            <a:r>
              <a:rPr lang="en-US" sz="1300" b="1" dirty="0">
                <a:solidFill>
                  <a:srgbClr val="E11D48"/>
                </a:solidFill>
                <a:latin typeface="Arial Black" pitchFamily="34" charset="0"/>
                <a:ea typeface="Arial Black" pitchFamily="34" charset="-122"/>
                <a:cs typeface="Arial Black" pitchFamily="34" charset="-120"/>
              </a:rPr>
              <a:t>Privacy &amp; Surveillance</a:t>
            </a:r>
            <a:endParaRPr lang="en-US" sz="1300" dirty="0"/>
          </a:p>
        </p:txBody>
      </p:sp>
      <p:sp>
        <p:nvSpPr>
          <p:cNvPr id="10" name="Text 8"/>
          <p:cNvSpPr/>
          <p:nvPr/>
        </p:nvSpPr>
        <p:spPr>
          <a:xfrm>
            <a:off x="457200" y="1563624"/>
            <a:ext cx="3931920" cy="10058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Many workplace systems track messages, tasks, screen time, and keystrokes. This reduces trust. When people know they are measured, they focus on numbers rather than the real goal , work becomes fast but poor in quality.</a:t>
            </a:r>
            <a:endParaRPr lang="en-US" sz="1050" dirty="0"/>
          </a:p>
        </p:txBody>
      </p:sp>
      <p:sp>
        <p:nvSpPr>
          <p:cNvPr id="11" name="Shape 9"/>
          <p:cNvSpPr/>
          <p:nvPr/>
        </p:nvSpPr>
        <p:spPr>
          <a:xfrm>
            <a:off x="4709160" y="1170432"/>
            <a:ext cx="64008" cy="1463040"/>
          </a:xfrm>
          <a:prstGeom prst="rect">
            <a:avLst/>
          </a:prstGeom>
          <a:solidFill>
            <a:srgbClr val="E11D48"/>
          </a:solidFill>
          <a:ln w="12700">
            <a:solidFill>
              <a:srgbClr val="E11D48"/>
            </a:solidFill>
            <a:prstDash val="solid"/>
          </a:ln>
        </p:spPr>
      </p:sp>
      <p:sp>
        <p:nvSpPr>
          <p:cNvPr id="12" name="Shape 10"/>
          <p:cNvSpPr/>
          <p:nvPr/>
        </p:nvSpPr>
        <p:spPr>
          <a:xfrm>
            <a:off x="4773168" y="1170432"/>
            <a:ext cx="4160520" cy="1463040"/>
          </a:xfrm>
          <a:prstGeom prst="rect">
            <a:avLst/>
          </a:prstGeom>
          <a:solidFill>
            <a:srgbClr val="FFFFFF"/>
          </a:solidFill>
          <a:ln w="6350">
            <a:solidFill>
              <a:srgbClr val="FFD0DA"/>
            </a:solidFill>
            <a:prstDash val="solid"/>
          </a:ln>
          <a:effectLst>
            <a:outerShdw blurRad="101600" dist="25400" dir="8100000" algn="bl" rotWithShape="0">
              <a:srgbClr val="3B4FD8">
                <a:alpha val="8000"/>
              </a:srgbClr>
            </a:outerShdw>
          </a:effectLst>
        </p:spPr>
      </p:sp>
      <p:sp>
        <p:nvSpPr>
          <p:cNvPr id="13" name="Text 11"/>
          <p:cNvSpPr/>
          <p:nvPr/>
        </p:nvSpPr>
        <p:spPr>
          <a:xfrm>
            <a:off x="4892040" y="1261872"/>
            <a:ext cx="3931920" cy="274320"/>
          </a:xfrm>
          <a:prstGeom prst="rect">
            <a:avLst/>
          </a:prstGeom>
          <a:noFill/>
          <a:ln/>
        </p:spPr>
        <p:txBody>
          <a:bodyPr wrap="square" lIns="0" tIns="0" rIns="0" bIns="0" rtlCol="0" anchor="ctr"/>
          <a:lstStyle/>
          <a:p>
            <a:pPr marL="0" indent="0">
              <a:buNone/>
            </a:pPr>
            <a:r>
              <a:rPr lang="en-US" sz="1300" b="1" dirty="0">
                <a:solidFill>
                  <a:srgbClr val="E11D48"/>
                </a:solidFill>
                <a:latin typeface="Arial Black" pitchFamily="34" charset="0"/>
                <a:ea typeface="Arial Black" pitchFamily="34" charset="-122"/>
                <a:cs typeface="Arial Black" pitchFamily="34" charset="-120"/>
              </a:rPr>
              <a:t>Misinformation</a:t>
            </a:r>
            <a:endParaRPr lang="en-US" sz="1300" dirty="0"/>
          </a:p>
        </p:txBody>
      </p:sp>
      <p:sp>
        <p:nvSpPr>
          <p:cNvPr id="14" name="Text 12"/>
          <p:cNvSpPr/>
          <p:nvPr/>
        </p:nvSpPr>
        <p:spPr>
          <a:xfrm>
            <a:off x="4892040" y="1563624"/>
            <a:ext cx="3931920" cy="10058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Social media spreads false information extremely fast. Fake or emotional content gets more attention than true information. Algorithms promote content that creates strong reactions, even if misleading. Correcting it becomes very difficult.</a:t>
            </a:r>
            <a:endParaRPr lang="en-US" sz="1050" dirty="0"/>
          </a:p>
        </p:txBody>
      </p:sp>
      <p:sp>
        <p:nvSpPr>
          <p:cNvPr id="15" name="Shape 13"/>
          <p:cNvSpPr/>
          <p:nvPr/>
        </p:nvSpPr>
        <p:spPr>
          <a:xfrm>
            <a:off x="274320" y="2770632"/>
            <a:ext cx="64008" cy="1463040"/>
          </a:xfrm>
          <a:prstGeom prst="rect">
            <a:avLst/>
          </a:prstGeom>
          <a:solidFill>
            <a:srgbClr val="E11D48"/>
          </a:solidFill>
          <a:ln w="12700">
            <a:solidFill>
              <a:srgbClr val="E11D48"/>
            </a:solidFill>
            <a:prstDash val="solid"/>
          </a:ln>
        </p:spPr>
      </p:sp>
      <p:sp>
        <p:nvSpPr>
          <p:cNvPr id="16" name="Shape 14"/>
          <p:cNvSpPr/>
          <p:nvPr/>
        </p:nvSpPr>
        <p:spPr>
          <a:xfrm>
            <a:off x="338328" y="2770632"/>
            <a:ext cx="4160520" cy="1463040"/>
          </a:xfrm>
          <a:prstGeom prst="rect">
            <a:avLst/>
          </a:prstGeom>
          <a:solidFill>
            <a:srgbClr val="FFFFFF"/>
          </a:solidFill>
          <a:ln w="6350">
            <a:solidFill>
              <a:srgbClr val="FFD0DA"/>
            </a:solidFill>
            <a:prstDash val="solid"/>
          </a:ln>
          <a:effectLst>
            <a:outerShdw blurRad="101600" dist="25400" dir="8100000" algn="bl" rotWithShape="0">
              <a:srgbClr val="3B4FD8">
                <a:alpha val="8000"/>
              </a:srgbClr>
            </a:outerShdw>
          </a:effectLst>
        </p:spPr>
      </p:sp>
      <p:sp>
        <p:nvSpPr>
          <p:cNvPr id="17" name="Text 15"/>
          <p:cNvSpPr/>
          <p:nvPr/>
        </p:nvSpPr>
        <p:spPr>
          <a:xfrm>
            <a:off x="457200" y="2862072"/>
            <a:ext cx="3931920" cy="274320"/>
          </a:xfrm>
          <a:prstGeom prst="rect">
            <a:avLst/>
          </a:prstGeom>
          <a:noFill/>
          <a:ln/>
        </p:spPr>
        <p:txBody>
          <a:bodyPr wrap="square" lIns="0" tIns="0" rIns="0" bIns="0" rtlCol="0" anchor="ctr"/>
          <a:lstStyle/>
          <a:p>
            <a:pPr marL="0" indent="0">
              <a:buNone/>
            </a:pPr>
            <a:r>
              <a:rPr lang="en-US" sz="1300" b="1" dirty="0">
                <a:solidFill>
                  <a:srgbClr val="E11D48"/>
                </a:solidFill>
                <a:latin typeface="Arial Black" pitchFamily="34" charset="0"/>
                <a:ea typeface="Arial Black" pitchFamily="34" charset="-122"/>
                <a:cs typeface="Arial Black" pitchFamily="34" charset="-120"/>
              </a:rPr>
              <a:t>The 90-9-1 Rule</a:t>
            </a:r>
            <a:endParaRPr lang="en-US" sz="1300" dirty="0"/>
          </a:p>
        </p:txBody>
      </p:sp>
      <p:sp>
        <p:nvSpPr>
          <p:cNvPr id="18" name="Text 16"/>
          <p:cNvSpPr/>
          <p:nvPr/>
        </p:nvSpPr>
        <p:spPr>
          <a:xfrm>
            <a:off x="457200" y="3163824"/>
            <a:ext cx="3931920" cy="10058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In most online communities: 90% only read, 9% contribute sometimes, and only 1% create most content. A very small group shapes opinions and culture for everyone , their biases influence what everyone else sees.</a:t>
            </a:r>
            <a:endParaRPr lang="en-US" sz="1050" dirty="0"/>
          </a:p>
        </p:txBody>
      </p:sp>
      <p:sp>
        <p:nvSpPr>
          <p:cNvPr id="19" name="Shape 17"/>
          <p:cNvSpPr/>
          <p:nvPr/>
        </p:nvSpPr>
        <p:spPr>
          <a:xfrm>
            <a:off x="4709160" y="2770632"/>
            <a:ext cx="64008" cy="1463040"/>
          </a:xfrm>
          <a:prstGeom prst="rect">
            <a:avLst/>
          </a:prstGeom>
          <a:solidFill>
            <a:srgbClr val="E11D48"/>
          </a:solidFill>
          <a:ln w="12700">
            <a:solidFill>
              <a:srgbClr val="E11D48"/>
            </a:solidFill>
            <a:prstDash val="solid"/>
          </a:ln>
        </p:spPr>
      </p:sp>
      <p:sp>
        <p:nvSpPr>
          <p:cNvPr id="20" name="Shape 18"/>
          <p:cNvSpPr/>
          <p:nvPr/>
        </p:nvSpPr>
        <p:spPr>
          <a:xfrm>
            <a:off x="4773168" y="2770632"/>
            <a:ext cx="4160520" cy="1463040"/>
          </a:xfrm>
          <a:prstGeom prst="rect">
            <a:avLst/>
          </a:prstGeom>
          <a:solidFill>
            <a:srgbClr val="FFFFFF"/>
          </a:solidFill>
          <a:ln w="6350">
            <a:solidFill>
              <a:srgbClr val="FFD0DA"/>
            </a:solidFill>
            <a:prstDash val="solid"/>
          </a:ln>
          <a:effectLst>
            <a:outerShdw blurRad="101600" dist="25400" dir="8100000" algn="bl" rotWithShape="0">
              <a:srgbClr val="3B4FD8">
                <a:alpha val="8000"/>
              </a:srgbClr>
            </a:outerShdw>
          </a:effectLst>
        </p:spPr>
      </p:sp>
      <p:sp>
        <p:nvSpPr>
          <p:cNvPr id="21" name="Text 19"/>
          <p:cNvSpPr/>
          <p:nvPr/>
        </p:nvSpPr>
        <p:spPr>
          <a:xfrm>
            <a:off x="4892040" y="2862072"/>
            <a:ext cx="3931920" cy="274320"/>
          </a:xfrm>
          <a:prstGeom prst="rect">
            <a:avLst/>
          </a:prstGeom>
          <a:noFill/>
          <a:ln/>
        </p:spPr>
        <p:txBody>
          <a:bodyPr wrap="square" lIns="0" tIns="0" rIns="0" bIns="0" rtlCol="0" anchor="ctr"/>
          <a:lstStyle/>
          <a:p>
            <a:pPr marL="0" indent="0">
              <a:buNone/>
            </a:pPr>
            <a:r>
              <a:rPr lang="en-US" sz="1300" b="1" dirty="0">
                <a:solidFill>
                  <a:srgbClr val="E11D48"/>
                </a:solidFill>
                <a:latin typeface="Arial Black" pitchFamily="34" charset="0"/>
                <a:ea typeface="Arial Black" pitchFamily="34" charset="-122"/>
                <a:cs typeface="Arial Black" pitchFamily="34" charset="-120"/>
              </a:rPr>
              <a:t>The Digital Divide</a:t>
            </a:r>
            <a:endParaRPr lang="en-US" sz="1300" dirty="0"/>
          </a:p>
        </p:txBody>
      </p:sp>
      <p:sp>
        <p:nvSpPr>
          <p:cNvPr id="22" name="Text 20"/>
          <p:cNvSpPr/>
          <p:nvPr/>
        </p:nvSpPr>
        <p:spPr>
          <a:xfrm>
            <a:off x="4892040" y="3163824"/>
            <a:ext cx="3931920" cy="100584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Not everyone has fast internet, modern devices, or digital skills. Many people cannot fully participate in collaborative systems. These technologies sometimes increase inequality instead of reducing it.</a:t>
            </a:r>
            <a:endParaRPr lang="en-US" sz="1050" dirty="0"/>
          </a:p>
        </p:txBody>
      </p:sp>
      <p:sp>
        <p:nvSpPr>
          <p:cNvPr id="23" name="Shape 21"/>
          <p:cNvSpPr/>
          <p:nvPr/>
        </p:nvSpPr>
        <p:spPr>
          <a:xfrm>
            <a:off x="274320" y="4352544"/>
            <a:ext cx="64008" cy="594360"/>
          </a:xfrm>
          <a:prstGeom prst="rect">
            <a:avLst/>
          </a:prstGeom>
          <a:solidFill>
            <a:srgbClr val="3B4FD8"/>
          </a:solidFill>
          <a:ln w="12700">
            <a:solidFill>
              <a:srgbClr val="3B4FD8"/>
            </a:solidFill>
            <a:prstDash val="solid"/>
          </a:ln>
        </p:spPr>
      </p:sp>
      <p:sp>
        <p:nvSpPr>
          <p:cNvPr id="24" name="Shape 22"/>
          <p:cNvSpPr/>
          <p:nvPr/>
        </p:nvSpPr>
        <p:spPr>
          <a:xfrm>
            <a:off x="338328" y="4352544"/>
            <a:ext cx="8531352" cy="594360"/>
          </a:xfrm>
          <a:prstGeom prst="rect">
            <a:avLst/>
          </a:prstGeom>
          <a:solidFill>
            <a:srgbClr val="EEF0FB"/>
          </a:solidFill>
          <a:ln w="12700">
            <a:solidFill>
              <a:srgbClr val="EEF0FB"/>
            </a:solidFill>
            <a:prstDash val="solid"/>
          </a:ln>
        </p:spPr>
      </p:sp>
      <p:sp>
        <p:nvSpPr>
          <p:cNvPr id="25" name="Text 23"/>
          <p:cNvSpPr/>
          <p:nvPr/>
        </p:nvSpPr>
        <p:spPr>
          <a:xfrm>
            <a:off x="502920" y="4389120"/>
            <a:ext cx="8321040" cy="530352"/>
          </a:xfrm>
          <a:prstGeom prst="rect">
            <a:avLst/>
          </a:prstGeom>
          <a:noFill/>
          <a:ln/>
        </p:spPr>
        <p:txBody>
          <a:bodyPr wrap="square" rtlCol="0" anchor="ctr"/>
          <a:lstStyle/>
          <a:p>
            <a:pPr marL="0" indent="0">
              <a:buNone/>
            </a:pPr>
            <a:r>
              <a:rPr lang="en-US" sz="1100" b="1" i="1" dirty="0">
                <a:solidFill>
                  <a:srgbClr val="0F172A"/>
                </a:solidFill>
                <a:latin typeface="Calibri" pitchFamily="34" charset="0"/>
                <a:ea typeface="Calibri" pitchFamily="34" charset="-122"/>
                <a:cs typeface="Calibri" pitchFamily="34" charset="-120"/>
              </a:rPr>
              <a:t>Brooks' Law (Fred Brooks):</a:t>
            </a:r>
            <a:r>
              <a:rPr lang="en-US" sz="1100" i="1" dirty="0">
                <a:solidFill>
                  <a:srgbClr val="0F172A"/>
                </a:solidFill>
                <a:latin typeface="Calibri" pitchFamily="34" charset="0"/>
                <a:ea typeface="Calibri" pitchFamily="34" charset="-122"/>
                <a:cs typeface="Calibri" pitchFamily="34" charset="-120"/>
              </a:rPr>
              <a:t> "Adding more people to a late software project makes it even later." Larger teams need more communication, coordination, and management , creating new problems faster than they solve old ones.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502920" y="256032"/>
            <a:ext cx="228600" cy="36576"/>
          </a:xfrm>
          <a:prstGeom prst="rect">
            <a:avLst/>
          </a:prstGeom>
          <a:solidFill>
            <a:srgbClr val="3B4FD8"/>
          </a:solidFill>
          <a:ln w="12700">
            <a:solidFill>
              <a:srgbClr val="3B4FD8"/>
            </a:solidFill>
            <a:prstDash val="solid"/>
          </a:ln>
        </p:spPr>
      </p:sp>
      <p:sp>
        <p:nvSpPr>
          <p:cNvPr id="3" name="Text 1"/>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2025 &amp; BEYOND</a:t>
            </a:r>
            <a:endParaRPr lang="en-US" sz="900" dirty="0"/>
          </a:p>
        </p:txBody>
      </p:sp>
      <p:sp>
        <p:nvSpPr>
          <p:cNvPr id="4" name="Text 2"/>
          <p:cNvSpPr/>
          <p:nvPr/>
        </p:nvSpPr>
        <p:spPr>
          <a:xfrm>
            <a:off x="274320" y="443484"/>
            <a:ext cx="8229600" cy="457200"/>
          </a:xfrm>
          <a:prstGeom prst="rect">
            <a:avLst/>
          </a:prstGeom>
          <a:noFill/>
          <a:ln/>
        </p:spPr>
        <p:txBody>
          <a:bodyPr wrap="square" lIns="0" tIns="0" rIns="0" bIns="0" rtlCol="0" anchor="ctr"/>
          <a:lstStyle/>
          <a:p>
            <a:pPr marL="0" indent="0" algn="l">
              <a:buNone/>
            </a:pPr>
            <a:r>
              <a:rPr lang="en-US" sz="2800" b="1" dirty="0">
                <a:solidFill>
                  <a:srgbClr val="0F172A"/>
                </a:solidFill>
                <a:latin typeface="Arial Black" pitchFamily="34" charset="0"/>
                <a:ea typeface="Arial Black" pitchFamily="34" charset="-122"/>
                <a:cs typeface="Arial Black" pitchFamily="34" charset="-120"/>
              </a:rPr>
              <a:t>The Next Wave of </a:t>
            </a:r>
            <a:endParaRPr lang="en-US" sz="2800" dirty="0"/>
          </a:p>
        </p:txBody>
      </p:sp>
      <p:sp>
        <p:nvSpPr>
          <p:cNvPr id="5" name="Text 3"/>
          <p:cNvSpPr/>
          <p:nvPr/>
        </p:nvSpPr>
        <p:spPr>
          <a:xfrm>
            <a:off x="3792540" y="429147"/>
            <a:ext cx="5486400" cy="457200"/>
          </a:xfrm>
          <a:prstGeom prst="rect">
            <a:avLst/>
          </a:prstGeom>
          <a:noFill/>
          <a:ln/>
        </p:spPr>
        <p:txBody>
          <a:bodyPr wrap="square" lIns="0" tIns="0" rIns="0" bIns="0" rtlCol="0" anchor="ctr"/>
          <a:lstStyle/>
          <a:p>
            <a:pPr marL="0" indent="0" algn="l">
              <a:buNone/>
            </a:pPr>
            <a:r>
              <a:rPr lang="en-US" sz="2800" b="1" dirty="0">
                <a:solidFill>
                  <a:srgbClr val="3B4FD8"/>
                </a:solidFill>
                <a:latin typeface="Arial Black" pitchFamily="34" charset="0"/>
                <a:ea typeface="Arial Black" pitchFamily="34" charset="-122"/>
                <a:cs typeface="Arial Black" pitchFamily="34" charset="-120"/>
              </a:rPr>
              <a:t>Collaboration</a:t>
            </a:r>
            <a:endParaRPr lang="en-US" sz="2800" dirty="0"/>
          </a:p>
        </p:txBody>
      </p:sp>
      <p:sp>
        <p:nvSpPr>
          <p:cNvPr id="6" name="Shape 4"/>
          <p:cNvSpPr/>
          <p:nvPr/>
        </p:nvSpPr>
        <p:spPr>
          <a:xfrm>
            <a:off x="274320" y="914400"/>
            <a:ext cx="8595360" cy="96012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7" name="Shape 5"/>
          <p:cNvSpPr/>
          <p:nvPr/>
        </p:nvSpPr>
        <p:spPr>
          <a:xfrm>
            <a:off x="274320" y="914400"/>
            <a:ext cx="64008" cy="960120"/>
          </a:xfrm>
          <a:prstGeom prst="rect">
            <a:avLst/>
          </a:prstGeom>
          <a:solidFill>
            <a:srgbClr val="3B4FD8"/>
          </a:solidFill>
          <a:ln w="12700">
            <a:solidFill>
              <a:srgbClr val="3B4FD8"/>
            </a:solidFill>
            <a:prstDash val="solid"/>
          </a:ln>
        </p:spPr>
      </p:sp>
      <p:sp>
        <p:nvSpPr>
          <p:cNvPr id="8" name="Text 6"/>
          <p:cNvSpPr/>
          <p:nvPr/>
        </p:nvSpPr>
        <p:spPr>
          <a:xfrm>
            <a:off x="438912" y="987552"/>
            <a:ext cx="8229600" cy="228600"/>
          </a:xfrm>
          <a:prstGeom prst="rect">
            <a:avLst/>
          </a:prstGeom>
          <a:noFill/>
          <a:ln/>
        </p:spPr>
        <p:txBody>
          <a:bodyPr wrap="square" lIns="0" tIns="0" rIns="0" bIns="0" rtlCol="0" anchor="ctr"/>
          <a:lstStyle/>
          <a:p>
            <a:pPr marL="0" indent="0">
              <a:buNone/>
            </a:pPr>
            <a:r>
              <a:rPr lang="en-US" sz="1300" b="1" dirty="0">
                <a:solidFill>
                  <a:srgbClr val="3B4FD8"/>
                </a:solidFill>
                <a:latin typeface="Arial Black" pitchFamily="34" charset="0"/>
                <a:ea typeface="Arial Black" pitchFamily="34" charset="-122"/>
                <a:cs typeface="Arial Black" pitchFamily="34" charset="-120"/>
              </a:rPr>
              <a:t>AI as an Active Collaborator</a:t>
            </a:r>
            <a:endParaRPr lang="en-US" sz="1300" dirty="0"/>
          </a:p>
        </p:txBody>
      </p:sp>
      <p:sp>
        <p:nvSpPr>
          <p:cNvPr id="9" name="Text 7"/>
          <p:cNvSpPr/>
          <p:nvPr/>
        </p:nvSpPr>
        <p:spPr>
          <a:xfrm>
            <a:off x="438912" y="1243584"/>
            <a:ext cx="8321040" cy="56692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AI tools like Microsoft Copilot, GitHub Copilot, and Slack AI already write documents, summarise meetings, suggest code, and manage tasks. AI is no longer just a support tool , it is becoming part of the team itself. New questions arise: Can people trust AI decisions? If AI writes a document, who is the real author?</a:t>
            </a:r>
            <a:endParaRPr lang="en-US" sz="1050" dirty="0"/>
          </a:p>
        </p:txBody>
      </p:sp>
      <p:sp>
        <p:nvSpPr>
          <p:cNvPr id="10" name="Shape 8"/>
          <p:cNvSpPr/>
          <p:nvPr/>
        </p:nvSpPr>
        <p:spPr>
          <a:xfrm>
            <a:off x="274320" y="1965960"/>
            <a:ext cx="8595360" cy="96012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1" name="Shape 9"/>
          <p:cNvSpPr/>
          <p:nvPr/>
        </p:nvSpPr>
        <p:spPr>
          <a:xfrm>
            <a:off x="274320" y="1965960"/>
            <a:ext cx="64008" cy="960120"/>
          </a:xfrm>
          <a:prstGeom prst="rect">
            <a:avLst/>
          </a:prstGeom>
          <a:solidFill>
            <a:srgbClr val="7C3AED"/>
          </a:solidFill>
          <a:ln w="12700">
            <a:solidFill>
              <a:srgbClr val="7C3AED"/>
            </a:solidFill>
            <a:prstDash val="solid"/>
          </a:ln>
        </p:spPr>
      </p:sp>
      <p:sp>
        <p:nvSpPr>
          <p:cNvPr id="12" name="Text 10"/>
          <p:cNvSpPr/>
          <p:nvPr/>
        </p:nvSpPr>
        <p:spPr>
          <a:xfrm>
            <a:off x="438912" y="2039112"/>
            <a:ext cx="8229600" cy="228600"/>
          </a:xfrm>
          <a:prstGeom prst="rect">
            <a:avLst/>
          </a:prstGeom>
          <a:noFill/>
          <a:ln/>
        </p:spPr>
        <p:txBody>
          <a:bodyPr wrap="square" lIns="0" tIns="0" rIns="0" bIns="0" rtlCol="0" anchor="ctr"/>
          <a:lstStyle/>
          <a:p>
            <a:pPr marL="0" indent="0">
              <a:buNone/>
            </a:pPr>
            <a:r>
              <a:rPr lang="en-US" sz="1300" b="1" dirty="0">
                <a:solidFill>
                  <a:srgbClr val="7C3AED"/>
                </a:solidFill>
                <a:latin typeface="Arial Black" pitchFamily="34" charset="0"/>
                <a:ea typeface="Arial Black" pitchFamily="34" charset="-122"/>
                <a:cs typeface="Arial Black" pitchFamily="34" charset="-120"/>
              </a:rPr>
              <a:t>Spatial &amp; Mixed Reality Collaboration</a:t>
            </a:r>
            <a:endParaRPr lang="en-US" sz="1300" dirty="0"/>
          </a:p>
        </p:txBody>
      </p:sp>
      <p:sp>
        <p:nvSpPr>
          <p:cNvPr id="13" name="Text 11"/>
          <p:cNvSpPr/>
          <p:nvPr/>
        </p:nvSpPr>
        <p:spPr>
          <a:xfrm>
            <a:off x="438912" y="2295144"/>
            <a:ext cx="8321040" cy="56692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Apple Vision Pro and Meta Quest 3 are changing remote teamwork. In the future, remote meetings may feel realistic , people from different countries appearing as 3D figures in a shared virtual space. This helps solve a major problem: online communication often feels less natural than face-to-face interaction.</a:t>
            </a:r>
            <a:endParaRPr lang="en-US" sz="1050" dirty="0"/>
          </a:p>
        </p:txBody>
      </p:sp>
      <p:sp>
        <p:nvSpPr>
          <p:cNvPr id="14" name="Shape 12"/>
          <p:cNvSpPr/>
          <p:nvPr/>
        </p:nvSpPr>
        <p:spPr>
          <a:xfrm>
            <a:off x="274320" y="3017520"/>
            <a:ext cx="8595360" cy="96012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5" name="Shape 13"/>
          <p:cNvSpPr/>
          <p:nvPr/>
        </p:nvSpPr>
        <p:spPr>
          <a:xfrm>
            <a:off x="274320" y="3017520"/>
            <a:ext cx="64008" cy="960120"/>
          </a:xfrm>
          <a:prstGeom prst="rect">
            <a:avLst/>
          </a:prstGeom>
          <a:solidFill>
            <a:srgbClr val="0891B2"/>
          </a:solidFill>
          <a:ln w="12700">
            <a:solidFill>
              <a:srgbClr val="0891B2"/>
            </a:solidFill>
            <a:prstDash val="solid"/>
          </a:ln>
        </p:spPr>
      </p:sp>
      <p:sp>
        <p:nvSpPr>
          <p:cNvPr id="16" name="Text 14"/>
          <p:cNvSpPr/>
          <p:nvPr/>
        </p:nvSpPr>
        <p:spPr>
          <a:xfrm>
            <a:off x="438912" y="3090672"/>
            <a:ext cx="8229600" cy="228600"/>
          </a:xfrm>
          <a:prstGeom prst="rect">
            <a:avLst/>
          </a:prstGeom>
          <a:noFill/>
          <a:ln/>
        </p:spPr>
        <p:txBody>
          <a:bodyPr wrap="square" lIns="0" tIns="0" rIns="0" bIns="0" rtlCol="0" anchor="ctr"/>
          <a:lstStyle/>
          <a:p>
            <a:pPr marL="0" indent="0">
              <a:buNone/>
            </a:pPr>
            <a:r>
              <a:rPr lang="en-US" sz="1300" b="1" dirty="0">
                <a:solidFill>
                  <a:srgbClr val="0891B2"/>
                </a:solidFill>
                <a:latin typeface="Arial Black" pitchFamily="34" charset="0"/>
                <a:ea typeface="Arial Black" pitchFamily="34" charset="-122"/>
                <a:cs typeface="Arial Black" pitchFamily="34" charset="-120"/>
              </a:rPr>
              <a:t>Decentralised Social Networks</a:t>
            </a:r>
            <a:endParaRPr lang="en-US" sz="1300" dirty="0"/>
          </a:p>
        </p:txBody>
      </p:sp>
      <p:sp>
        <p:nvSpPr>
          <p:cNvPr id="17" name="Text 15"/>
          <p:cNvSpPr/>
          <p:nvPr/>
        </p:nvSpPr>
        <p:spPr>
          <a:xfrm>
            <a:off x="438912" y="3346704"/>
            <a:ext cx="8321040" cy="56692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Today a few large platforms control most social media. New platforms like Mastodon and Bluesky give users more control over data and communities. Advantage: more freedom and privacy. Challenge: managing harmful content becomes harder with no central authority.</a:t>
            </a:r>
            <a:endParaRPr lang="en-US" sz="1050" dirty="0"/>
          </a:p>
        </p:txBody>
      </p:sp>
      <p:sp>
        <p:nvSpPr>
          <p:cNvPr id="18" name="Shape 16"/>
          <p:cNvSpPr/>
          <p:nvPr/>
        </p:nvSpPr>
        <p:spPr>
          <a:xfrm>
            <a:off x="274320" y="4069080"/>
            <a:ext cx="8595360" cy="96012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9" name="Shape 17"/>
          <p:cNvSpPr/>
          <p:nvPr/>
        </p:nvSpPr>
        <p:spPr>
          <a:xfrm>
            <a:off x="274320" y="4069080"/>
            <a:ext cx="64008" cy="960120"/>
          </a:xfrm>
          <a:prstGeom prst="rect">
            <a:avLst/>
          </a:prstGeom>
          <a:solidFill>
            <a:srgbClr val="059669"/>
          </a:solidFill>
          <a:ln w="12700">
            <a:solidFill>
              <a:srgbClr val="059669"/>
            </a:solidFill>
            <a:prstDash val="solid"/>
          </a:ln>
        </p:spPr>
      </p:sp>
      <p:sp>
        <p:nvSpPr>
          <p:cNvPr id="20" name="Text 18"/>
          <p:cNvSpPr/>
          <p:nvPr/>
        </p:nvSpPr>
        <p:spPr>
          <a:xfrm>
            <a:off x="438912" y="4142232"/>
            <a:ext cx="8229600" cy="228600"/>
          </a:xfrm>
          <a:prstGeom prst="rect">
            <a:avLst/>
          </a:prstGeom>
          <a:noFill/>
          <a:ln/>
        </p:spPr>
        <p:txBody>
          <a:bodyPr wrap="square" lIns="0" tIns="0" rIns="0" bIns="0" rtlCol="0" anchor="ctr"/>
          <a:lstStyle/>
          <a:p>
            <a:pPr marL="0" indent="0">
              <a:buNone/>
            </a:pPr>
            <a:r>
              <a:rPr lang="en-US" sz="1300" b="1" dirty="0">
                <a:solidFill>
                  <a:srgbClr val="059669"/>
                </a:solidFill>
                <a:latin typeface="Arial Black" pitchFamily="34" charset="0"/>
                <a:ea typeface="Arial Black" pitchFamily="34" charset="-122"/>
                <a:cs typeface="Arial Black" pitchFamily="34" charset="-120"/>
              </a:rPr>
              <a:t>Human-AI Collective Intelligence</a:t>
            </a:r>
            <a:endParaRPr lang="en-US" sz="1300" dirty="0"/>
          </a:p>
        </p:txBody>
      </p:sp>
      <p:sp>
        <p:nvSpPr>
          <p:cNvPr id="21" name="Text 19"/>
          <p:cNvSpPr/>
          <p:nvPr/>
        </p:nvSpPr>
        <p:spPr>
          <a:xfrm>
            <a:off x="438912" y="4398264"/>
            <a:ext cx="8321040" cy="56692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Researchers are building systems where humans and AI work together to solve difficult problems , AI managing large online discussions, connecting tasks to skilled people, making better predictions. The goal is not to replace humans, but to combine human creativity with AI speed and analytical power.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3B4FD8">
              <a:alpha val="12000"/>
            </a:srgbClr>
          </a:solidFill>
          <a:ln w="12700">
            <a:solidFill>
              <a:srgbClr val="3B4FD8">
                <a:alpha val="12000"/>
              </a:srgbClr>
            </a:solidFill>
            <a:prstDash val="solid"/>
          </a:ln>
        </p:spPr>
      </p:sp>
      <p:sp>
        <p:nvSpPr>
          <p:cNvPr id="5" name="Text 3"/>
          <p:cNvSpPr/>
          <p:nvPr/>
        </p:nvSpPr>
        <p:spPr>
          <a:xfrm>
            <a:off x="274320" y="347472"/>
            <a:ext cx="8229600" cy="347472"/>
          </a:xfrm>
          <a:prstGeom prst="rect">
            <a:avLst/>
          </a:prstGeom>
          <a:noFill/>
          <a:ln/>
        </p:spPr>
        <p:txBody>
          <a:bodyPr wrap="square" lIns="0" tIns="0" rIns="0" bIns="0" rtlCol="0" anchor="ctr"/>
          <a:lstStyle/>
          <a:p>
            <a:pPr marL="0" indent="0" algn="l">
              <a:buNone/>
            </a:pPr>
            <a:r>
              <a:rPr lang="en-US" sz="2200" b="1" dirty="0">
                <a:solidFill>
                  <a:srgbClr val="0F172A"/>
                </a:solidFill>
                <a:latin typeface="Arial Black" pitchFamily="34" charset="0"/>
                <a:ea typeface="Arial Black" pitchFamily="34" charset="-122"/>
                <a:cs typeface="Arial Black" pitchFamily="34" charset="-120"/>
              </a:rPr>
              <a:t>CONCLUSION</a:t>
            </a:r>
            <a:endParaRPr lang="en-US" sz="2200" dirty="0"/>
          </a:p>
        </p:txBody>
      </p:sp>
      <p:sp>
        <p:nvSpPr>
          <p:cNvPr id="6" name="Text 4"/>
          <p:cNvSpPr/>
          <p:nvPr/>
        </p:nvSpPr>
        <p:spPr>
          <a:xfrm>
            <a:off x="274320" y="746390"/>
            <a:ext cx="8229600" cy="365760"/>
          </a:xfrm>
          <a:prstGeom prst="rect">
            <a:avLst/>
          </a:prstGeom>
          <a:noFill/>
          <a:ln/>
        </p:spPr>
        <p:txBody>
          <a:bodyPr wrap="square" lIns="0" tIns="0" rIns="0" bIns="0" rtlCol="0" anchor="ctr"/>
          <a:lstStyle/>
          <a:p>
            <a:pPr marL="0" indent="0" algn="l">
              <a:buNone/>
            </a:pPr>
            <a:r>
              <a:rPr lang="en-US" sz="2200" b="1" dirty="0">
                <a:solidFill>
                  <a:srgbClr val="3B4FD8"/>
                </a:solidFill>
                <a:latin typeface="Arial Black" pitchFamily="34" charset="0"/>
                <a:ea typeface="Arial Black" pitchFamily="34" charset="-122"/>
                <a:cs typeface="Arial Black" pitchFamily="34" charset="-120"/>
              </a:rPr>
              <a:t>The Central Question of Our Time</a:t>
            </a:r>
            <a:endParaRPr lang="en-US" sz="2200" dirty="0"/>
          </a:p>
        </p:txBody>
      </p:sp>
      <p:sp>
        <p:nvSpPr>
          <p:cNvPr id="7" name="Shape 5"/>
          <p:cNvSpPr/>
          <p:nvPr/>
        </p:nvSpPr>
        <p:spPr>
          <a:xfrm>
            <a:off x="274320" y="1097280"/>
            <a:ext cx="8595360" cy="1417320"/>
          </a:xfrm>
          <a:prstGeom prst="rect">
            <a:avLst/>
          </a:prstGeom>
          <a:solidFill>
            <a:srgbClr val="EEF0FB"/>
          </a:solidFill>
          <a:ln w="6350">
            <a:solidFill>
              <a:srgbClr val="3B4FD8"/>
            </a:solidFill>
            <a:prstDash val="solid"/>
          </a:ln>
          <a:effectLst>
            <a:outerShdw blurRad="101600" dist="25400" dir="8100000" algn="bl" rotWithShape="0">
              <a:srgbClr val="3B4FD8">
                <a:alpha val="8000"/>
              </a:srgbClr>
            </a:outerShdw>
          </a:effectLst>
        </p:spPr>
      </p:sp>
      <p:sp>
        <p:nvSpPr>
          <p:cNvPr id="8" name="Text 6"/>
          <p:cNvSpPr/>
          <p:nvPr/>
        </p:nvSpPr>
        <p:spPr>
          <a:xfrm>
            <a:off x="457200" y="1170432"/>
            <a:ext cx="8321040" cy="1280160"/>
          </a:xfrm>
          <a:prstGeom prst="rect">
            <a:avLst/>
          </a:prstGeom>
          <a:noFill/>
          <a:ln/>
        </p:spPr>
        <p:txBody>
          <a:bodyPr wrap="square" rtlCol="0" anchor="ctr"/>
          <a:lstStyle/>
          <a:p>
            <a:pPr marL="0" indent="0">
              <a:buNone/>
            </a:pPr>
            <a:r>
              <a:rPr lang="en-US" sz="1350" dirty="0">
                <a:solidFill>
                  <a:srgbClr val="0F172A"/>
                </a:solidFill>
                <a:latin typeface="Calibri" pitchFamily="34" charset="0"/>
                <a:ea typeface="Calibri" pitchFamily="34" charset="-122"/>
                <a:cs typeface="Calibri" pitchFamily="34" charset="-120"/>
              </a:rPr>
              <a:t>The best collaborative systems don't just connect people , they help people </a:t>
            </a:r>
            <a:r>
              <a:rPr lang="en-US" sz="1350" b="1" dirty="0">
                <a:solidFill>
                  <a:srgbClr val="0F172A"/>
                </a:solidFill>
                <a:latin typeface="Calibri" pitchFamily="34" charset="0"/>
                <a:ea typeface="Calibri" pitchFamily="34" charset="-122"/>
                <a:cs typeface="Calibri" pitchFamily="34" charset="-120"/>
              </a:rPr>
              <a:t>create things together that no single person could create alone.</a:t>
            </a:r>
            <a:endParaRPr lang="en-US" sz="1350" dirty="0"/>
          </a:p>
          <a:p>
            <a:pPr marL="0" indent="0">
              <a:buNone/>
            </a:pPr>
            <a:r>
              <a:rPr lang="en-US" sz="1100" b="1" i="1" dirty="0">
                <a:solidFill>
                  <a:srgbClr val="64748B"/>
                </a:solidFill>
                <a:latin typeface="Calibri" pitchFamily="34" charset="0"/>
                <a:ea typeface="Calibri" pitchFamily="34" charset="-122"/>
                <a:cs typeface="Calibri" pitchFamily="34" charset="-120"/>
              </a:rPr>
              <a:t>Wikipedia. Linux. The Human Genome Project</a:t>
            </a:r>
            <a:r>
              <a:rPr lang="en-US" sz="1100" i="1" dirty="0">
                <a:solidFill>
                  <a:srgbClr val="64748B"/>
                </a:solidFill>
                <a:latin typeface="Calibri" pitchFamily="34" charset="0"/>
                <a:ea typeface="Calibri" pitchFamily="34" charset="-122"/>
                <a:cs typeface="Calibri" pitchFamily="34" charset="-120"/>
              </a:rPr>
              <a:t>. These were possible because technology helped people collaborate, share knowledge, and stay connected. Designing such systems is not only a technical challenge , it is a human responsibility.</a:t>
            </a:r>
            <a:endParaRPr lang="en-US" sz="1350" dirty="0"/>
          </a:p>
        </p:txBody>
      </p:sp>
      <p:sp>
        <p:nvSpPr>
          <p:cNvPr id="9" name="Shape 7"/>
          <p:cNvSpPr/>
          <p:nvPr/>
        </p:nvSpPr>
        <p:spPr>
          <a:xfrm>
            <a:off x="274320" y="2651760"/>
            <a:ext cx="2743200" cy="169164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0" name="Text 8"/>
          <p:cNvSpPr/>
          <p:nvPr/>
        </p:nvSpPr>
        <p:spPr>
          <a:xfrm>
            <a:off x="384048" y="2697480"/>
            <a:ext cx="2514600" cy="457200"/>
          </a:xfrm>
          <a:prstGeom prst="rect">
            <a:avLst/>
          </a:prstGeom>
          <a:noFill/>
          <a:ln/>
        </p:spPr>
        <p:txBody>
          <a:bodyPr wrap="square" lIns="0" tIns="0" rIns="0" bIns="0" rtlCol="0" anchor="ctr"/>
          <a:lstStyle/>
          <a:p>
            <a:pPr marL="0" indent="0" algn="l">
              <a:buNone/>
            </a:pPr>
            <a:r>
              <a:rPr lang="en-US" sz="3600" b="1" dirty="0">
                <a:solidFill>
                  <a:srgbClr val="3B4FD8"/>
                </a:solidFill>
                <a:latin typeface="Arial Black" pitchFamily="34" charset="0"/>
                <a:ea typeface="Arial Black" pitchFamily="34" charset="-122"/>
                <a:cs typeface="Arial Black" pitchFamily="34" charset="-120"/>
              </a:rPr>
              <a:t>01</a:t>
            </a:r>
            <a:endParaRPr lang="en-US" sz="3600" dirty="0"/>
          </a:p>
        </p:txBody>
      </p:sp>
      <p:sp>
        <p:nvSpPr>
          <p:cNvPr id="11" name="Text 9"/>
          <p:cNvSpPr/>
          <p:nvPr/>
        </p:nvSpPr>
        <p:spPr>
          <a:xfrm>
            <a:off x="384048" y="3154680"/>
            <a:ext cx="2514600" cy="228600"/>
          </a:xfrm>
          <a:prstGeom prst="rect">
            <a:avLst/>
          </a:prstGeom>
          <a:noFill/>
          <a:ln/>
        </p:spPr>
        <p:txBody>
          <a:bodyPr wrap="square" lIns="0" tIns="0" rIns="0" bIns="0" rtlCol="0" anchor="ctr"/>
          <a:lstStyle/>
          <a:p>
            <a:pPr marL="0" indent="0">
              <a:buNone/>
            </a:pPr>
            <a:r>
              <a:rPr lang="en-US" sz="1100" b="1" dirty="0">
                <a:solidFill>
                  <a:srgbClr val="3B4FD8"/>
                </a:solidFill>
                <a:latin typeface="Arial Black" pitchFamily="34" charset="0"/>
                <a:ea typeface="Arial Black" pitchFamily="34" charset="-122"/>
                <a:cs typeface="Arial Black" pitchFamily="34" charset="-120"/>
              </a:rPr>
              <a:t>RESEARCH IT</a:t>
            </a:r>
            <a:endParaRPr lang="en-US" sz="1100" dirty="0"/>
          </a:p>
        </p:txBody>
      </p:sp>
      <p:sp>
        <p:nvSpPr>
          <p:cNvPr id="12" name="Text 10"/>
          <p:cNvSpPr/>
          <p:nvPr/>
        </p:nvSpPr>
        <p:spPr>
          <a:xfrm>
            <a:off x="384048" y="3410712"/>
            <a:ext cx="2514600" cy="8686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Understand social dynamics, not just code. CSCW is interdisciplinary , CS, psychology, sociology, and design working together.</a:t>
            </a:r>
            <a:endParaRPr lang="en-US" sz="1000" dirty="0"/>
          </a:p>
        </p:txBody>
      </p:sp>
      <p:sp>
        <p:nvSpPr>
          <p:cNvPr id="13" name="Shape 11"/>
          <p:cNvSpPr/>
          <p:nvPr/>
        </p:nvSpPr>
        <p:spPr>
          <a:xfrm>
            <a:off x="3182112" y="2651760"/>
            <a:ext cx="2743200" cy="169164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4" name="Text 12"/>
          <p:cNvSpPr/>
          <p:nvPr/>
        </p:nvSpPr>
        <p:spPr>
          <a:xfrm>
            <a:off x="3291840" y="2697480"/>
            <a:ext cx="2514600" cy="457200"/>
          </a:xfrm>
          <a:prstGeom prst="rect">
            <a:avLst/>
          </a:prstGeom>
          <a:noFill/>
          <a:ln/>
        </p:spPr>
        <p:txBody>
          <a:bodyPr wrap="square" lIns="0" tIns="0" rIns="0" bIns="0" rtlCol="0" anchor="ctr"/>
          <a:lstStyle/>
          <a:p>
            <a:pPr marL="0" indent="0" algn="l">
              <a:buNone/>
            </a:pPr>
            <a:r>
              <a:rPr lang="en-US" sz="3600" b="1" dirty="0">
                <a:solidFill>
                  <a:srgbClr val="3B4FD8"/>
                </a:solidFill>
                <a:latin typeface="Arial Black" pitchFamily="34" charset="0"/>
                <a:ea typeface="Arial Black" pitchFamily="34" charset="-122"/>
                <a:cs typeface="Arial Black" pitchFamily="34" charset="-120"/>
              </a:rPr>
              <a:t>02</a:t>
            </a:r>
            <a:endParaRPr lang="en-US" sz="3600" dirty="0"/>
          </a:p>
        </p:txBody>
      </p:sp>
      <p:sp>
        <p:nvSpPr>
          <p:cNvPr id="15" name="Text 13"/>
          <p:cNvSpPr/>
          <p:nvPr/>
        </p:nvSpPr>
        <p:spPr>
          <a:xfrm>
            <a:off x="3291840" y="3154680"/>
            <a:ext cx="2514600" cy="228600"/>
          </a:xfrm>
          <a:prstGeom prst="rect">
            <a:avLst/>
          </a:prstGeom>
          <a:noFill/>
          <a:ln/>
        </p:spPr>
        <p:txBody>
          <a:bodyPr wrap="square" lIns="0" tIns="0" rIns="0" bIns="0" rtlCol="0" anchor="ctr"/>
          <a:lstStyle/>
          <a:p>
            <a:pPr marL="0" indent="0">
              <a:buNone/>
            </a:pPr>
            <a:r>
              <a:rPr lang="en-US" sz="1100" b="1" dirty="0">
                <a:solidFill>
                  <a:srgbClr val="3B4FD8"/>
                </a:solidFill>
                <a:latin typeface="Arial Black" pitchFamily="34" charset="0"/>
                <a:ea typeface="Arial Black" pitchFamily="34" charset="-122"/>
                <a:cs typeface="Arial Black" pitchFamily="34" charset="-120"/>
              </a:rPr>
              <a:t>DESIGN IT WELL</a:t>
            </a:r>
            <a:endParaRPr lang="en-US" sz="1100" dirty="0"/>
          </a:p>
        </p:txBody>
      </p:sp>
      <p:sp>
        <p:nvSpPr>
          <p:cNvPr id="16" name="Text 14"/>
          <p:cNvSpPr/>
          <p:nvPr/>
        </p:nvSpPr>
        <p:spPr>
          <a:xfrm>
            <a:off x="3291840" y="3410712"/>
            <a:ext cx="2514600" cy="8686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Apply the 3Cs and groupware principles. Awareness, privacy, conflict resolution, graceful scaling , all by deliberate design.</a:t>
            </a:r>
            <a:endParaRPr lang="en-US" sz="1000" dirty="0"/>
          </a:p>
        </p:txBody>
      </p:sp>
      <p:sp>
        <p:nvSpPr>
          <p:cNvPr id="17" name="Shape 15"/>
          <p:cNvSpPr/>
          <p:nvPr/>
        </p:nvSpPr>
        <p:spPr>
          <a:xfrm>
            <a:off x="6089904" y="2651760"/>
            <a:ext cx="2743200" cy="1691640"/>
          </a:xfrm>
          <a:prstGeom prst="rect">
            <a:avLst/>
          </a:prstGeom>
          <a:solidFill>
            <a:srgbClr val="FFFFFF"/>
          </a:solidFill>
          <a:ln w="6350">
            <a:solidFill>
              <a:srgbClr val="DDEEFF"/>
            </a:solidFill>
            <a:prstDash val="solid"/>
          </a:ln>
          <a:effectLst>
            <a:outerShdw blurRad="101600" dist="25400" dir="8100000" algn="bl" rotWithShape="0">
              <a:srgbClr val="3B4FD8">
                <a:alpha val="8000"/>
              </a:srgbClr>
            </a:outerShdw>
          </a:effectLst>
        </p:spPr>
      </p:sp>
      <p:sp>
        <p:nvSpPr>
          <p:cNvPr id="18" name="Text 16"/>
          <p:cNvSpPr/>
          <p:nvPr/>
        </p:nvSpPr>
        <p:spPr>
          <a:xfrm>
            <a:off x="6199632" y="2697480"/>
            <a:ext cx="2514600" cy="457200"/>
          </a:xfrm>
          <a:prstGeom prst="rect">
            <a:avLst/>
          </a:prstGeom>
          <a:noFill/>
          <a:ln/>
        </p:spPr>
        <p:txBody>
          <a:bodyPr wrap="square" lIns="0" tIns="0" rIns="0" bIns="0" rtlCol="0" anchor="ctr"/>
          <a:lstStyle/>
          <a:p>
            <a:pPr marL="0" indent="0" algn="l">
              <a:buNone/>
            </a:pPr>
            <a:r>
              <a:rPr lang="en-US" sz="3600" b="1" dirty="0">
                <a:solidFill>
                  <a:srgbClr val="3B4FD8"/>
                </a:solidFill>
                <a:latin typeface="Arial Black" pitchFamily="34" charset="0"/>
                <a:ea typeface="Arial Black" pitchFamily="34" charset="-122"/>
                <a:cs typeface="Arial Black" pitchFamily="34" charset="-120"/>
              </a:rPr>
              <a:t>03</a:t>
            </a:r>
            <a:endParaRPr lang="en-US" sz="3600" dirty="0"/>
          </a:p>
        </p:txBody>
      </p:sp>
      <p:sp>
        <p:nvSpPr>
          <p:cNvPr id="19" name="Text 17"/>
          <p:cNvSpPr/>
          <p:nvPr/>
        </p:nvSpPr>
        <p:spPr>
          <a:xfrm>
            <a:off x="6199632" y="3154680"/>
            <a:ext cx="2514600" cy="228600"/>
          </a:xfrm>
          <a:prstGeom prst="rect">
            <a:avLst/>
          </a:prstGeom>
          <a:noFill/>
          <a:ln/>
        </p:spPr>
        <p:txBody>
          <a:bodyPr wrap="square" lIns="0" tIns="0" rIns="0" bIns="0" rtlCol="0" anchor="ctr"/>
          <a:lstStyle/>
          <a:p>
            <a:pPr marL="0" indent="0">
              <a:buNone/>
            </a:pPr>
            <a:r>
              <a:rPr lang="en-US" sz="1100" b="1" dirty="0">
                <a:solidFill>
                  <a:srgbClr val="3B4FD8"/>
                </a:solidFill>
                <a:latin typeface="Arial Black" pitchFamily="34" charset="0"/>
                <a:ea typeface="Arial Black" pitchFamily="34" charset="-122"/>
                <a:cs typeface="Arial Black" pitchFamily="34" charset="-120"/>
              </a:rPr>
              <a:t>OWN THE ETHICS</a:t>
            </a:r>
            <a:endParaRPr lang="en-US" sz="1100" dirty="0"/>
          </a:p>
        </p:txBody>
      </p:sp>
      <p:sp>
        <p:nvSpPr>
          <p:cNvPr id="20" name="Text 18"/>
          <p:cNvSpPr/>
          <p:nvPr/>
        </p:nvSpPr>
        <p:spPr>
          <a:xfrm>
            <a:off x="6199632" y="3410712"/>
            <a:ext cx="2514600" cy="8686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Misinformation, bias, digital divides, these are design problems. We build the systems. We are responsible.</a:t>
            </a:r>
            <a:endParaRPr lang="en-US" sz="1000" dirty="0"/>
          </a:p>
        </p:txBody>
      </p:sp>
      <p:sp>
        <p:nvSpPr>
          <p:cNvPr id="21" name="Shape 19"/>
          <p:cNvSpPr/>
          <p:nvPr/>
        </p:nvSpPr>
        <p:spPr>
          <a:xfrm>
            <a:off x="274320" y="4462272"/>
            <a:ext cx="8595360" cy="457200"/>
          </a:xfrm>
          <a:prstGeom prst="rect">
            <a:avLst/>
          </a:prstGeom>
          <a:solidFill>
            <a:srgbClr val="FFFFFF"/>
          </a:solidFill>
          <a:ln w="6350">
            <a:solidFill>
              <a:srgbClr val="3B4FD8"/>
            </a:solidFill>
            <a:prstDash val="solid"/>
          </a:ln>
        </p:spPr>
      </p:sp>
      <p:sp>
        <p:nvSpPr>
          <p:cNvPr id="22" name="Text 20"/>
          <p:cNvSpPr/>
          <p:nvPr/>
        </p:nvSpPr>
        <p:spPr>
          <a:xfrm>
            <a:off x="274320" y="4462272"/>
            <a:ext cx="859536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Siffat Ullah  ·  HCI Presentation · May 2026  </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502920" y="256032"/>
            <a:ext cx="228600" cy="36576"/>
          </a:xfrm>
          <a:prstGeom prst="rect">
            <a:avLst/>
          </a:prstGeom>
          <a:solidFill>
            <a:srgbClr val="3B4FD8"/>
          </a:solidFill>
          <a:ln w="12700">
            <a:solidFill>
              <a:srgbClr val="3B4FD8"/>
            </a:solidFill>
            <a:prstDash val="solid"/>
          </a:ln>
        </p:spPr>
      </p:sp>
      <p:sp>
        <p:nvSpPr>
          <p:cNvPr id="3" name="Text 1"/>
          <p:cNvSpPr/>
          <p:nvPr/>
        </p:nvSpPr>
        <p:spPr>
          <a:xfrm>
            <a:off x="777240" y="182880"/>
            <a:ext cx="8229600" cy="201168"/>
          </a:xfrm>
          <a:prstGeom prst="rect">
            <a:avLst/>
          </a:prstGeom>
          <a:noFill/>
          <a:ln/>
        </p:spPr>
        <p:txBody>
          <a:bodyPr wrap="square" lIns="0" tIns="0" rIns="0" bIns="0" rtlCol="0" anchor="ctr"/>
          <a:lstStyle/>
          <a:p>
            <a:pPr marL="0" indent="0" algn="l">
              <a:buNone/>
            </a:pPr>
            <a:r>
              <a:rPr lang="en-US" sz="900" b="1" kern="0" spc="300" dirty="0">
                <a:solidFill>
                  <a:srgbClr val="3B4FD8"/>
                </a:solidFill>
                <a:latin typeface="Calibri" pitchFamily="34" charset="0"/>
                <a:ea typeface="Calibri" pitchFamily="34" charset="-122"/>
                <a:cs typeface="Calibri" pitchFamily="34" charset="-120"/>
              </a:rPr>
              <a:t>ACADEMIC SOURCES</a:t>
            </a:r>
            <a:endParaRPr lang="en-US" sz="900" dirty="0"/>
          </a:p>
        </p:txBody>
      </p:sp>
      <p:sp>
        <p:nvSpPr>
          <p:cNvPr id="4" name="Text 2"/>
          <p:cNvSpPr/>
          <p:nvPr/>
        </p:nvSpPr>
        <p:spPr>
          <a:xfrm>
            <a:off x="274320" y="475488"/>
            <a:ext cx="8229600" cy="502920"/>
          </a:xfrm>
          <a:prstGeom prst="rect">
            <a:avLst/>
          </a:prstGeom>
          <a:noFill/>
          <a:ln/>
        </p:spPr>
        <p:txBody>
          <a:bodyPr wrap="square" lIns="0" tIns="0" rIns="0" bIns="0" rtlCol="0" anchor="ctr"/>
          <a:lstStyle/>
          <a:p>
            <a:pPr marL="0" indent="0">
              <a:buNone/>
            </a:pPr>
            <a:r>
              <a:rPr lang="en-US" sz="3200" b="1" dirty="0">
                <a:solidFill>
                  <a:srgbClr val="0F172A"/>
                </a:solidFill>
                <a:latin typeface="Arial Black" pitchFamily="34" charset="0"/>
                <a:ea typeface="Arial Black" pitchFamily="34" charset="-122"/>
                <a:cs typeface="Arial Black" pitchFamily="34" charset="-120"/>
              </a:rPr>
              <a:t>References</a:t>
            </a:r>
            <a:endParaRPr lang="en-US" sz="3200" dirty="0"/>
          </a:p>
        </p:txBody>
      </p:sp>
      <p:sp>
        <p:nvSpPr>
          <p:cNvPr id="5" name="Shape 3"/>
          <p:cNvSpPr/>
          <p:nvPr/>
        </p:nvSpPr>
        <p:spPr>
          <a:xfrm>
            <a:off x="274320" y="960120"/>
            <a:ext cx="4206240" cy="420624"/>
          </a:xfrm>
          <a:prstGeom prst="rect">
            <a:avLst/>
          </a:prstGeom>
          <a:solidFill>
            <a:srgbClr val="FFFFFF"/>
          </a:solidFill>
          <a:ln w="6350">
            <a:solidFill>
              <a:srgbClr val="DDEEFF"/>
            </a:solidFill>
            <a:prstDash val="solid"/>
          </a:ln>
        </p:spPr>
      </p:sp>
      <p:sp>
        <p:nvSpPr>
          <p:cNvPr id="6" name="Text 4"/>
          <p:cNvSpPr/>
          <p:nvPr/>
        </p:nvSpPr>
        <p:spPr>
          <a:xfrm>
            <a:off x="384048" y="996696"/>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[1] Olson, G. M. &amp; Olson, J. S. (2024). Collaboration Technologies. In The Human–Computer Interaction Handbook, Chapter 24, pp. 549–564.</a:t>
            </a:r>
            <a:endParaRPr lang="en-US" sz="850" dirty="0"/>
          </a:p>
        </p:txBody>
      </p:sp>
      <p:sp>
        <p:nvSpPr>
          <p:cNvPr id="7" name="Shape 5"/>
          <p:cNvSpPr/>
          <p:nvPr/>
        </p:nvSpPr>
        <p:spPr>
          <a:xfrm>
            <a:off x="274320" y="1453896"/>
            <a:ext cx="4206240" cy="420624"/>
          </a:xfrm>
          <a:prstGeom prst="rect">
            <a:avLst/>
          </a:prstGeom>
          <a:solidFill>
            <a:srgbClr val="FFFFFF"/>
          </a:solidFill>
          <a:ln w="6350">
            <a:solidFill>
              <a:srgbClr val="DDEEFF"/>
            </a:solidFill>
            <a:prstDash val="solid"/>
          </a:ln>
        </p:spPr>
      </p:sp>
      <p:sp>
        <p:nvSpPr>
          <p:cNvPr id="8" name="Text 6"/>
          <p:cNvSpPr/>
          <p:nvPr/>
        </p:nvSpPr>
        <p:spPr>
          <a:xfrm>
            <a:off x="384048" y="1490472"/>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[2] Grudin, J. (1994). Groupware and social dynamics: Eight challenges for developers. Communications of the ACM, 37(1), 92–105.</a:t>
            </a:r>
            <a:endParaRPr lang="en-US" sz="850" dirty="0"/>
          </a:p>
        </p:txBody>
      </p:sp>
      <p:sp>
        <p:nvSpPr>
          <p:cNvPr id="9" name="Shape 7"/>
          <p:cNvSpPr/>
          <p:nvPr/>
        </p:nvSpPr>
        <p:spPr>
          <a:xfrm>
            <a:off x="274320" y="1947672"/>
            <a:ext cx="4206240" cy="420624"/>
          </a:xfrm>
          <a:prstGeom prst="rect">
            <a:avLst/>
          </a:prstGeom>
          <a:solidFill>
            <a:srgbClr val="FFFFFF"/>
          </a:solidFill>
          <a:ln w="6350">
            <a:solidFill>
              <a:srgbClr val="DDEEFF"/>
            </a:solidFill>
            <a:prstDash val="solid"/>
          </a:ln>
        </p:spPr>
      </p:sp>
      <p:sp>
        <p:nvSpPr>
          <p:cNvPr id="10" name="Text 8"/>
          <p:cNvSpPr/>
          <p:nvPr/>
        </p:nvSpPr>
        <p:spPr>
          <a:xfrm>
            <a:off x="384048" y="1984248"/>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[3] Johansen, R. (1988). Groupware: Computer Support for Business Teams. The Free Press.</a:t>
            </a:r>
            <a:endParaRPr lang="en-US" sz="850" dirty="0"/>
          </a:p>
        </p:txBody>
      </p:sp>
      <p:sp>
        <p:nvSpPr>
          <p:cNvPr id="11" name="Shape 9"/>
          <p:cNvSpPr/>
          <p:nvPr/>
        </p:nvSpPr>
        <p:spPr>
          <a:xfrm>
            <a:off x="274320" y="2441448"/>
            <a:ext cx="4206240" cy="420624"/>
          </a:xfrm>
          <a:prstGeom prst="rect">
            <a:avLst/>
          </a:prstGeom>
          <a:solidFill>
            <a:srgbClr val="FFFFFF"/>
          </a:solidFill>
          <a:ln w="6350">
            <a:solidFill>
              <a:srgbClr val="DDEEFF"/>
            </a:solidFill>
            <a:prstDash val="solid"/>
          </a:ln>
        </p:spPr>
      </p:sp>
      <p:sp>
        <p:nvSpPr>
          <p:cNvPr id="12" name="Text 10"/>
          <p:cNvSpPr/>
          <p:nvPr/>
        </p:nvSpPr>
        <p:spPr>
          <a:xfrm>
            <a:off x="384048" y="2478024"/>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[4] Preece, J., Rogers, Y., &amp; Sharp, H. (2019). Interaction Design: Beyond Human-Computer Interaction (5th ed.). Wiley.</a:t>
            </a:r>
            <a:endParaRPr lang="en-US" sz="850" dirty="0"/>
          </a:p>
        </p:txBody>
      </p:sp>
      <p:sp>
        <p:nvSpPr>
          <p:cNvPr id="13" name="Shape 11"/>
          <p:cNvSpPr/>
          <p:nvPr/>
        </p:nvSpPr>
        <p:spPr>
          <a:xfrm>
            <a:off x="274320" y="2935224"/>
            <a:ext cx="4206240" cy="420624"/>
          </a:xfrm>
          <a:prstGeom prst="rect">
            <a:avLst/>
          </a:prstGeom>
          <a:solidFill>
            <a:srgbClr val="FFFFFF"/>
          </a:solidFill>
          <a:ln w="6350">
            <a:solidFill>
              <a:srgbClr val="DDEEFF"/>
            </a:solidFill>
            <a:prstDash val="solid"/>
          </a:ln>
        </p:spPr>
      </p:sp>
      <p:sp>
        <p:nvSpPr>
          <p:cNvPr id="14" name="Text 12"/>
          <p:cNvSpPr/>
          <p:nvPr/>
        </p:nvSpPr>
        <p:spPr>
          <a:xfrm>
            <a:off x="384048" y="2971800"/>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[5] Sproull, L. &amp; Kiesler, S. (1991). Connections: New Ways of Working in the Networked Organization. MIT Press.</a:t>
            </a:r>
            <a:endParaRPr lang="en-US" sz="850" dirty="0"/>
          </a:p>
        </p:txBody>
      </p:sp>
      <p:sp>
        <p:nvSpPr>
          <p:cNvPr id="15" name="Shape 13"/>
          <p:cNvSpPr/>
          <p:nvPr/>
        </p:nvSpPr>
        <p:spPr>
          <a:xfrm>
            <a:off x="274320" y="3429000"/>
            <a:ext cx="4206240" cy="420624"/>
          </a:xfrm>
          <a:prstGeom prst="rect">
            <a:avLst/>
          </a:prstGeom>
          <a:solidFill>
            <a:srgbClr val="FFFFFF"/>
          </a:solidFill>
          <a:ln w="6350">
            <a:solidFill>
              <a:srgbClr val="DDEEFF"/>
            </a:solidFill>
            <a:prstDash val="solid"/>
          </a:ln>
        </p:spPr>
      </p:sp>
      <p:sp>
        <p:nvSpPr>
          <p:cNvPr id="16" name="Text 14"/>
          <p:cNvSpPr/>
          <p:nvPr/>
        </p:nvSpPr>
        <p:spPr>
          <a:xfrm>
            <a:off x="384048" y="3465576"/>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[6] Surowiecki, J. (2004). The Wisdom of Crowds. Doubleday.</a:t>
            </a:r>
            <a:endParaRPr lang="en-US" sz="850" dirty="0"/>
          </a:p>
        </p:txBody>
      </p:sp>
      <p:sp>
        <p:nvSpPr>
          <p:cNvPr id="17" name="Shape 15"/>
          <p:cNvSpPr/>
          <p:nvPr/>
        </p:nvSpPr>
        <p:spPr>
          <a:xfrm>
            <a:off x="274320" y="3922776"/>
            <a:ext cx="4206240" cy="420624"/>
          </a:xfrm>
          <a:prstGeom prst="rect">
            <a:avLst/>
          </a:prstGeom>
          <a:solidFill>
            <a:srgbClr val="FFFFFF"/>
          </a:solidFill>
          <a:ln w="6350">
            <a:solidFill>
              <a:srgbClr val="DDEEFF"/>
            </a:solidFill>
            <a:prstDash val="solid"/>
          </a:ln>
        </p:spPr>
      </p:sp>
      <p:sp>
        <p:nvSpPr>
          <p:cNvPr id="18" name="Text 16"/>
          <p:cNvSpPr/>
          <p:nvPr/>
        </p:nvSpPr>
        <p:spPr>
          <a:xfrm>
            <a:off x="384048" y="3959352"/>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[7] Bruns, A. (2008). Blogs, Wikipedia, Second Life, and Beyond: From Production to Produsage. Peter Lang.</a:t>
            </a:r>
            <a:endParaRPr lang="en-US" sz="850" dirty="0"/>
          </a:p>
        </p:txBody>
      </p:sp>
      <p:sp>
        <p:nvSpPr>
          <p:cNvPr id="19" name="Shape 17"/>
          <p:cNvSpPr/>
          <p:nvPr/>
        </p:nvSpPr>
        <p:spPr>
          <a:xfrm>
            <a:off x="274320" y="4416552"/>
            <a:ext cx="4206240" cy="420624"/>
          </a:xfrm>
          <a:prstGeom prst="rect">
            <a:avLst/>
          </a:prstGeom>
          <a:solidFill>
            <a:srgbClr val="FFFFFF"/>
          </a:solidFill>
          <a:ln w="6350">
            <a:solidFill>
              <a:srgbClr val="DDEEFF"/>
            </a:solidFill>
            <a:prstDash val="solid"/>
          </a:ln>
        </p:spPr>
      </p:sp>
      <p:sp>
        <p:nvSpPr>
          <p:cNvPr id="20" name="Text 18"/>
          <p:cNvSpPr/>
          <p:nvPr/>
        </p:nvSpPr>
        <p:spPr>
          <a:xfrm>
            <a:off x="384048" y="4453128"/>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[8] Norman, D. A. (2013). The Design of Everyday Things (Revised ed.). Basic Books.</a:t>
            </a:r>
            <a:endParaRPr lang="en-US" sz="850" dirty="0"/>
          </a:p>
        </p:txBody>
      </p:sp>
      <p:sp>
        <p:nvSpPr>
          <p:cNvPr id="21" name="Shape 19"/>
          <p:cNvSpPr/>
          <p:nvPr/>
        </p:nvSpPr>
        <p:spPr>
          <a:xfrm>
            <a:off x="4709160" y="960120"/>
            <a:ext cx="4206240" cy="420624"/>
          </a:xfrm>
          <a:prstGeom prst="rect">
            <a:avLst/>
          </a:prstGeom>
          <a:solidFill>
            <a:srgbClr val="FFFFFF"/>
          </a:solidFill>
          <a:ln w="6350">
            <a:solidFill>
              <a:srgbClr val="DDEEFF"/>
            </a:solidFill>
            <a:prstDash val="solid"/>
          </a:ln>
        </p:spPr>
      </p:sp>
      <p:sp>
        <p:nvSpPr>
          <p:cNvPr id="22" name="Text 20"/>
          <p:cNvSpPr/>
          <p:nvPr/>
        </p:nvSpPr>
        <p:spPr>
          <a:xfrm>
            <a:off x="4818888" y="996696"/>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[9] Nielsen, J. (2006). Participation Inequality: Encouraging More Users to Contribute. Nielsen Norman Group.</a:t>
            </a:r>
            <a:endParaRPr lang="en-US" sz="850" dirty="0"/>
          </a:p>
        </p:txBody>
      </p:sp>
      <p:sp>
        <p:nvSpPr>
          <p:cNvPr id="23" name="Shape 21"/>
          <p:cNvSpPr/>
          <p:nvPr/>
        </p:nvSpPr>
        <p:spPr>
          <a:xfrm>
            <a:off x="4709160" y="1453896"/>
            <a:ext cx="4206240" cy="420624"/>
          </a:xfrm>
          <a:prstGeom prst="rect">
            <a:avLst/>
          </a:prstGeom>
          <a:solidFill>
            <a:srgbClr val="FFFFFF"/>
          </a:solidFill>
          <a:ln w="6350">
            <a:solidFill>
              <a:srgbClr val="DDEEFF"/>
            </a:solidFill>
            <a:prstDash val="solid"/>
          </a:ln>
        </p:spPr>
      </p:sp>
      <p:sp>
        <p:nvSpPr>
          <p:cNvPr id="24" name="Text 22"/>
          <p:cNvSpPr/>
          <p:nvPr/>
        </p:nvSpPr>
        <p:spPr>
          <a:xfrm>
            <a:off x="4818888" y="1490472"/>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[10] Brooks, F. P. (1995). The Mythical Man-Month: Essays on Software Engineering. Addison-Wesley.</a:t>
            </a:r>
            <a:endParaRPr lang="en-US" sz="850" dirty="0"/>
          </a:p>
        </p:txBody>
      </p:sp>
      <p:sp>
        <p:nvSpPr>
          <p:cNvPr id="25" name="Shape 23"/>
          <p:cNvSpPr/>
          <p:nvPr/>
        </p:nvSpPr>
        <p:spPr>
          <a:xfrm>
            <a:off x="4709160" y="1947672"/>
            <a:ext cx="4206240" cy="420624"/>
          </a:xfrm>
          <a:prstGeom prst="rect">
            <a:avLst/>
          </a:prstGeom>
          <a:solidFill>
            <a:srgbClr val="FFFFFF"/>
          </a:solidFill>
          <a:ln w="6350">
            <a:solidFill>
              <a:srgbClr val="DDEEFF"/>
            </a:solidFill>
            <a:prstDash val="solid"/>
          </a:ln>
        </p:spPr>
      </p:sp>
      <p:sp>
        <p:nvSpPr>
          <p:cNvPr id="26" name="Text 24"/>
          <p:cNvSpPr/>
          <p:nvPr/>
        </p:nvSpPr>
        <p:spPr>
          <a:xfrm>
            <a:off x="4818888" y="1984248"/>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[11] Giles, J. (2005). Internet encyclopaedias go head to head. Nature, 438, 900–901.</a:t>
            </a:r>
            <a:endParaRPr lang="en-US" sz="850" dirty="0"/>
          </a:p>
        </p:txBody>
      </p:sp>
      <p:sp>
        <p:nvSpPr>
          <p:cNvPr id="27" name="Shape 25"/>
          <p:cNvSpPr/>
          <p:nvPr/>
        </p:nvSpPr>
        <p:spPr>
          <a:xfrm>
            <a:off x="4709160" y="2441448"/>
            <a:ext cx="4206240" cy="420624"/>
          </a:xfrm>
          <a:prstGeom prst="rect">
            <a:avLst/>
          </a:prstGeom>
          <a:solidFill>
            <a:srgbClr val="FFFFFF"/>
          </a:solidFill>
          <a:ln w="6350">
            <a:solidFill>
              <a:srgbClr val="DDEEFF"/>
            </a:solidFill>
            <a:prstDash val="solid"/>
          </a:ln>
        </p:spPr>
      </p:sp>
      <p:sp>
        <p:nvSpPr>
          <p:cNvPr id="28" name="Text 26"/>
          <p:cNvSpPr/>
          <p:nvPr/>
        </p:nvSpPr>
        <p:spPr>
          <a:xfrm>
            <a:off x="4818888" y="2478024"/>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[12] ACM CSCW 2025. Computer-Supported Cooperative Work and Social Computing. https://cscw.acm.org/2025/</a:t>
            </a:r>
            <a:endParaRPr lang="en-US" sz="850" dirty="0"/>
          </a:p>
        </p:txBody>
      </p:sp>
      <p:sp>
        <p:nvSpPr>
          <p:cNvPr id="29" name="Shape 27"/>
          <p:cNvSpPr/>
          <p:nvPr/>
        </p:nvSpPr>
        <p:spPr>
          <a:xfrm>
            <a:off x="4709160" y="2935224"/>
            <a:ext cx="4206240" cy="420624"/>
          </a:xfrm>
          <a:prstGeom prst="rect">
            <a:avLst/>
          </a:prstGeom>
          <a:solidFill>
            <a:srgbClr val="FFFFFF"/>
          </a:solidFill>
          <a:ln w="6350">
            <a:solidFill>
              <a:srgbClr val="DDEEFF"/>
            </a:solidFill>
            <a:prstDash val="solid"/>
          </a:ln>
        </p:spPr>
      </p:sp>
      <p:sp>
        <p:nvSpPr>
          <p:cNvPr id="30" name="Text 28"/>
          <p:cNvSpPr/>
          <p:nvPr/>
        </p:nvSpPr>
        <p:spPr>
          <a:xfrm>
            <a:off x="4818888" y="2971800"/>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[13] Interaction Design Foundation. (2024). Social Computing. https://www.interaction-design.org</a:t>
            </a:r>
            <a:endParaRPr lang="en-US" sz="850" dirty="0"/>
          </a:p>
        </p:txBody>
      </p:sp>
      <p:sp>
        <p:nvSpPr>
          <p:cNvPr id="31" name="Shape 29"/>
          <p:cNvSpPr/>
          <p:nvPr/>
        </p:nvSpPr>
        <p:spPr>
          <a:xfrm>
            <a:off x="4709160" y="3429000"/>
            <a:ext cx="4206240" cy="420624"/>
          </a:xfrm>
          <a:prstGeom prst="rect">
            <a:avLst/>
          </a:prstGeom>
          <a:solidFill>
            <a:srgbClr val="FFFFFF"/>
          </a:solidFill>
          <a:ln w="6350">
            <a:solidFill>
              <a:srgbClr val="DDEEFF"/>
            </a:solidFill>
            <a:prstDash val="solid"/>
          </a:ln>
        </p:spPr>
      </p:sp>
      <p:sp>
        <p:nvSpPr>
          <p:cNvPr id="32" name="Text 30"/>
          <p:cNvSpPr/>
          <p:nvPr/>
        </p:nvSpPr>
        <p:spPr>
          <a:xfrm>
            <a:off x="4818888" y="3465576"/>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[14] GitHub. (2025). AI-Native Development Insights. https://github.com/resources/insights</a:t>
            </a:r>
            <a:endParaRPr lang="en-US" sz="850" dirty="0"/>
          </a:p>
        </p:txBody>
      </p:sp>
      <p:sp>
        <p:nvSpPr>
          <p:cNvPr id="33" name="Shape 31"/>
          <p:cNvSpPr/>
          <p:nvPr/>
        </p:nvSpPr>
        <p:spPr>
          <a:xfrm>
            <a:off x="4709160" y="3922776"/>
            <a:ext cx="4206240" cy="420624"/>
          </a:xfrm>
          <a:prstGeom prst="rect">
            <a:avLst/>
          </a:prstGeom>
          <a:solidFill>
            <a:srgbClr val="FFFFFF"/>
          </a:solidFill>
          <a:ln w="6350">
            <a:solidFill>
              <a:srgbClr val="DDEEFF"/>
            </a:solidFill>
            <a:prstDash val="solid"/>
          </a:ln>
        </p:spPr>
      </p:sp>
      <p:sp>
        <p:nvSpPr>
          <p:cNvPr id="34" name="Text 32"/>
          <p:cNvSpPr/>
          <p:nvPr/>
        </p:nvSpPr>
        <p:spPr>
          <a:xfrm>
            <a:off x="4818888" y="3959352"/>
            <a:ext cx="3977640" cy="34747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[15] Vieweg, S. et al. (2010). Microblogging during two natural hazard events. Proceedings of CHI 2010, 1079–1088.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1708</Words>
  <Application>Microsoft Macintosh PowerPoint</Application>
  <PresentationFormat>On-screen Show (16:9)</PresentationFormat>
  <Paragraphs>132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&amp; Social Computing</dc:title>
  <dc:subject>PptxGenJS Presentation</dc:subject>
  <dc:creator>Siffat Ullah</dc:creator>
  <cp:lastModifiedBy>Siffat Zain</cp:lastModifiedBy>
  <cp:revision>20</cp:revision>
  <dcterms:created xsi:type="dcterms:W3CDTF">2026-05-17T20:10:35Z</dcterms:created>
  <dcterms:modified xsi:type="dcterms:W3CDTF">2026-05-17T20:26:19Z</dcterms:modified>
</cp:coreProperties>
</file>