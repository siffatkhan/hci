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90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18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E7C7B">
              <a:alpha val="18000"/>
            </a:srgbClr>
          </a:solidFill>
          <a:ln w="12700">
            <a:solidFill>
              <a:srgbClr val="0E7C7B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2B5B3">
              <a:alpha val="15000"/>
            </a:srgbClr>
          </a:solidFill>
          <a:ln w="12700">
            <a:solidFill>
              <a:srgbClr val="12B5B3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Collaborative &amp;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Computing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52725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Understanding how technology enables people to work, create, and interact together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292608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HCI Course  | </a:t>
            </a:r>
            <a:r>
              <a:rPr lang="en-US" sz="1400" dirty="0" err="1">
                <a:solidFill>
                  <a:schemeClr val="bg1"/>
                </a:solidFill>
              </a:rPr>
              <a:t>Siffat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ullah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Social Computing?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C4A6E"/>
                </a:solidFill>
              </a:rPr>
              <a:t>The integration of computational systems with social behaviour — enabling people to generate, share, and collaborate at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96596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Psychology + Technology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585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</a:rPr>
              <a:t>Studies how human social behaviour plays out in digital spaces and how systems can reflect and support those behaviours.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715768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67004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User-Generated Content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00837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</a:rPr>
              <a:t>Platforms like YouTube, Wikipedia, and Reddit are built on content created by ordinary users — not the platform itself.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465576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41985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Community Formation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75818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</a:rPr>
              <a:t>Users self-organize into groups based on shared interests, identities, and goals — from hobby clubs to political movements.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4215384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16966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Collective Intelligence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507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</a:rPr>
              <a:t>Aggregated actions of many users produce knowledge, rankings, and recommendations that no individual could create alone.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0" y="1143000"/>
            <a:ext cx="192024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1280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B5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5.24B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58000" y="1874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social media users worldwide (2025)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Collaborative Computing (CSCW)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4A6E"/>
                </a:solidFill>
              </a:rPr>
              <a:t>Computer-Supported Cooperative Work — technology that enables groups to work together regardless of time or place.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4023360" cy="13258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385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Same Time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Same Place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FAFA"/>
                </a:solidFill>
              </a:rPr>
              <a:t>Face-to-face meetings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0FAFA"/>
                </a:solidFill>
              </a:rPr>
              <a:t>Shared whiteboards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402336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9385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Same Time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Diff. Place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514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B5B3"/>
                </a:solidFill>
              </a:rPr>
              <a:t>Zoom, Google Meet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2B5B3"/>
                </a:solidFill>
              </a:rPr>
              <a:t>Real-time co-editing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246120"/>
            <a:ext cx="402336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35584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Diff. Time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Same Place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B5B3"/>
                </a:solidFill>
              </a:rPr>
              <a:t>Bulletin boards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2B5B3"/>
                </a:solidFill>
              </a:rPr>
              <a:t>Shift handover notes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4023360" cy="13258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35584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Diff. Time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Diff. Place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931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FAFA"/>
                </a:solidFill>
              </a:rPr>
              <a:t>Email, Wikis, Git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0FAFA"/>
                </a:solidFill>
              </a:rPr>
              <a:t>Forum discussions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7999"/>
                </a:solidFill>
              </a:rPr>
              <a:t>The Time-Space Matrix (Johansen, 1988)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Concepts: The Four Pillars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737360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9768" y="1737360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4A6E"/>
                </a:solidFill>
              </a:rPr>
              <a:t>CSCW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2148840"/>
            <a:ext cx="3895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455"/>
                </a:solidFill>
              </a:rPr>
              <a:t>Computer-Supported Cooperative Work. Technology that mediates communication, coordination, and cooperation among groups working together.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14800" cy="1737360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34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64608" y="1737360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4A6E"/>
                </a:solidFill>
              </a:rPr>
              <a:t>Groupware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2148840"/>
            <a:ext cx="3895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455"/>
                </a:solidFill>
              </a:rPr>
              <a:t>Software enabling concurrent or asynchronous group interaction — shared whiteboards, wikis, version control, and real-time co-authoring.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063240"/>
            <a:ext cx="4114800" cy="1737360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154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9768" y="3657600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4A6E"/>
                </a:solidFill>
              </a:rPr>
              <a:t>Crowdsourcing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" y="4069080"/>
            <a:ext cx="3895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455"/>
                </a:solidFill>
              </a:rPr>
              <a:t>Distributing tasks to large online groups to harness collective intelligence. Examples: Wikipedia, GitHub, Amazon Mechanical Turk, Zooniverse.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154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64608" y="3657600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4A6E"/>
                </a:solidFill>
              </a:rPr>
              <a:t>Social Networks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4069080"/>
            <a:ext cx="3895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455"/>
                </a:solidFill>
              </a:rPr>
              <a:t>Community-driven platforms that enable user-generated content, social graphs, and viral information sharing. Web 2.0 made users producers, not just consumers.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Technologies &amp; Platforms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88920" cy="1691640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2984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📄  Google Docs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</a:rPr>
              <a:t>Real-time CSCW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193852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1B+ users collaborate daily with simultaneous editing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88920" cy="1691640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2984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💻  GitHub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55848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</a:rPr>
              <a:t>Version Control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55848" y="193852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100M+ developers using pull requests and code review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788920" cy="1691640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27648" y="12984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💬  Slack / Teams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27648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</a:rPr>
              <a:t>Enterprise Chat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27648" y="193852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Replaced email for 65% of enterprises surveyed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3172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📖  Wikipedia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3538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</a:rPr>
              <a:t>Crowdsourcing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381304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55M+ articles written by volunteer global community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55848" y="3172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📹  Zoom / Meet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55848" y="3538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</a:rPr>
              <a:t>Video CSCW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55848" y="381304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600M+ weekly meeting participants post-pandemic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0632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27648" y="3172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🎨  Figma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27648" y="3538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</a:rPr>
              <a:t>Collab Design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27648" y="381304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4M+ design teams doing real-time collaborative UI/UX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Ethical Considerations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14800" cy="1115568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2801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🔒  Privacy &amp; Data Security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" y="164592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Platforms collect vast personal data. Users risk surveillance, data breaches, and loss of control over their information.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1115568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12801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❌  Misinformation &amp; Trust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64608" y="164592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False stories spread faster than corrections on social networks. Algorithms optimized for engagement amplify sensational content.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4114800" cy="1115568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25603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🔄  Coordination Overhead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92608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Too many contributors can slow progress. Social loafing, Brooks' Law, and GroupThink are real risks in large teams.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4114800" cy="1115568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64608" y="25603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📶  Digital Divide &amp; Inclusion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292608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Access to collaboration tools requires devices, internet, and digital literacy — unequally distributed across societies.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4114800" cy="1115568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38404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⚖️  Algorithmic Bias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" y="420624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Recommendation and ranking algorithms encode designer biases and can reinforce social inequalities at massive scale.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749040"/>
            <a:ext cx="4114800" cy="1115568"/>
          </a:xfrm>
          <a:prstGeom prst="rect">
            <a:avLst/>
          </a:prstGeom>
          <a:solidFill>
            <a:srgbClr val="D8F4F4"/>
          </a:solidFill>
          <a:ln w="12700">
            <a:solidFill>
              <a:srgbClr val="12B5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38404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A6E"/>
                </a:solidFill>
              </a:rPr>
              <a:t>🌍  Global Team Barriers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420624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Timezone differences, language gaps, and intercultural communication norms challenge distributed collaboration.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E7C7B">
              <a:alpha val="18000"/>
            </a:srgbClr>
          </a:solidFill>
          <a:ln w="12700">
            <a:solidFill>
              <a:srgbClr val="0E7C7B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Trends  (2025 – 2030)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6128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5B3"/>
                </a:solidFill>
              </a:rPr>
              <a:t>AI Agents as Collaborators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90472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D8"/>
                </a:solidFill>
              </a:rPr>
              <a:t>AI co-workers in Slack, GitHub Copilot, and Google Workspace that autonomously draft, summarize, and route tasks alongside humans.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50292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03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5B3"/>
                </a:solidFill>
              </a:rPr>
              <a:t>Spatial &amp; AR Collaboration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43230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D8"/>
                </a:solidFill>
              </a:rPr>
              <a:t>Apple Vision Pro and Meta Quest enable holographic meetings, shared 3D design spaces, and spatial whiteboards.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026664"/>
            <a:ext cx="50292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0449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5B3"/>
                </a:solidFill>
              </a:rPr>
              <a:t>Federated Social Networks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37413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D8"/>
                </a:solidFill>
              </a:rPr>
              <a:t>Decentralized platforms (Mastodon, Bluesky) using ActivityPub/AT Protocol give users data ownership and resist platform lock-in.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968496"/>
            <a:ext cx="50292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8678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5B3"/>
                </a:solidFill>
              </a:rPr>
              <a:t>Human-AI Collective Intelligence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31596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D8"/>
                </a:solidFill>
              </a:rPr>
              <a:t>Hybrid systems where AI amplifies crowd wisdom — AI-moderated deliberation, prediction markets, and large-scale citizen science.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E7C7B">
              <a:alpha val="18000"/>
            </a:srgbClr>
          </a:solidFill>
          <a:ln w="12700">
            <a:solidFill>
              <a:srgbClr val="0E7C7B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12B5B3">
              <a:alpha val="15000"/>
            </a:srgbClr>
          </a:solidFill>
          <a:ln w="12700">
            <a:solidFill>
              <a:srgbClr val="12B5B3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61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B5B3"/>
                </a:solidFill>
              </a:rPr>
              <a:t>Social Computing studies how people interact and collaborate through technology — not just with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1938528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B5B3"/>
                </a:solidFill>
              </a:rPr>
              <a:t>CSCW's Time-Space Matrix helps designers understand whether tools should be synchronous or asynchronous.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" y="2715768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15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B5B3"/>
                </a:solidFill>
              </a:rPr>
              <a:t>Collective intelligence emerges when platforms make it easy for many people to contribute small pieces.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1480" y="3493008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4290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B5B3"/>
                </a:solidFill>
              </a:rPr>
              <a:t>Privacy, misinformation, and the digital divide are the hardest problems — they need both technical and social solutions.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1480" y="4270248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2062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B5B3"/>
                </a:solidFill>
              </a:rPr>
              <a:t>AI agents and spatial computing are the next frontier: the line between human and machine collaboration is blurring fast.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7999"/>
                </a:solidFill>
              </a:rPr>
              <a:t>Malak Israr  •  HCI Course  •  Collaborative &amp; Social Computing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763</Words>
  <Application>Microsoft Macintosh PowerPoint</Application>
  <PresentationFormat>On-screen Show (16:9)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&amp; Social Computing</dc:title>
  <dc:subject>PptxGenJS Presentation</dc:subject>
  <dc:creator>Malak Israr</dc:creator>
  <cp:lastModifiedBy>Siffat Zain</cp:lastModifiedBy>
  <cp:revision>4</cp:revision>
  <dcterms:created xsi:type="dcterms:W3CDTF">2026-05-13T17:53:34Z</dcterms:created>
  <dcterms:modified xsi:type="dcterms:W3CDTF">2026-05-16T21:34:56Z</dcterms:modified>
</cp:coreProperties>
</file>